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notesSlides/notesSlide1.xml" Type="http://schemas.openxmlformats.org/officeDocument/2006/relationships/notesSlide"/><Relationship Id="rId32" Target="notesSlides/notesSlide2.xml" Type="http://schemas.openxmlformats.org/officeDocument/2006/relationships/notesSlide"/><Relationship Id="rId33" Target="notesSlides/notesSlide3.xml" Type="http://schemas.openxmlformats.org/officeDocument/2006/relationships/notesSlide"/><Relationship Id="rId34" Target="notesSlides/notesSlide4.xml" Type="http://schemas.openxmlformats.org/officeDocument/2006/relationships/notesSlide"/><Relationship Id="rId35" Target="notesSlides/notesSlide5.xml" Type="http://schemas.openxmlformats.org/officeDocument/2006/relationships/notesSlide"/><Relationship Id="rId36" Target="notesSlides/notesSlide6.xml" Type="http://schemas.openxmlformats.org/officeDocument/2006/relationships/notesSlide"/><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slideMasters/slideMaster1.xml" Type="http://schemas.openxmlformats.org/officeDocument/2006/relationships/slideMaster"/><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47" Target="notesSlides/notesSlide17.xml" Type="http://schemas.openxmlformats.org/officeDocument/2006/relationships/notesSlide"/><Relationship Id="rId48" Target="notesSlides/notesSlide18.xml" Type="http://schemas.openxmlformats.org/officeDocument/2006/relationships/notesSlide"/><Relationship Id="rId49" Target="notesSlides/notesSlide19.xml" Type="http://schemas.openxmlformats.org/officeDocument/2006/relationships/notesSlide"/><Relationship Id="rId50" Target="notesSlides/notesSlide20.xml" Type="http://schemas.openxmlformats.org/officeDocument/2006/relationships/notesSlide"/><Relationship Id="rId51" Target="notesSlides/notesSlide21.xml" Type="http://schemas.openxmlformats.org/officeDocument/2006/relationships/notesSlide"/><Relationship Id="rId52" Target="notesSlides/notesSlide22.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大家好，欢迎参加本次AI-ToolBox项目汇报。今天我将向大家展示一个基于Spring Boot构建的AI文案生成服务。这个项目旨在解决当前内容创作领域面临的效率瓶颈，通过智能化的手段为用户提供高效、高质量的文案创作体验。接下来，我将从项目背景、技术架构、核心功能等多个方面进行详细介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围绕七个核心部分展开。首先，我会介绍项目的背景与目标，阐述我们为何要做这件事。接着，将深入解析项目的技术架构和系统功能模块。之后，会展示数据库设计、核心接口以及我们引以为傲的技术亮点。最后，我会介绍部署方案、总结项目成果，并对未来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来看项目背景。当前，我们正处在一个内容为王的时代。无论是企业还是个人，都需要在各大社交平台上持续不断地输出内容。这带来了巨大的挑战：一方面是爆炸式增长的内容需求，另一方面是人工创作在效率、创意和成本上遇到的瓶颈。这些痛点共同指向了一个方向——我们需要一个智能化的解决方案来赋能内容创作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基于这些背景，我们设定了明确的项目目标。我们的核心目标是构建一个强大的后端服务。功能上，我们要实现从用户注册到会员管理的全流程闭环。技术上，我们致力于搭建一个基于Spring Boot的、具有高扩展性的企业级架构。总而言之，我们的目标就是打造一个真正能帮助用户解决问题的智能文案创作助手。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这个项目能带来什么价值呢？我们总结为四点：首先是效率的巨大提升，AI能快速生成初稿，让创作者更专注于创意。其次是激发灵感，AI能提供意想不到的思路。第三是降低成本，无论是时间成本还是金钱成本。最后，也是非常重要的一点，AI能保证输出内容的基本质量和专业性。我们相信，AI-ToolBox将真正赋能每一位创作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接下来进入技术部分。我们的系统采用经典的前后端分离架构。最上层是基于Uniapp开发的前端应用，负责用户交互。中间是我们的核心，基于Spring Boot构建的后端服务层，处理所有业务逻辑。底层是数据存储层，我们使用MySQL进行数据持久化，并用Redis做高性能缓存。这种分层架构保证了系统的高内聚和低耦合。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前端，我们选择了Uniapp。它的核心优势在于跨平台能力，让我们用一套代码就能覆盖多个终端，大大节省了开发资源。同时，它基于Vue.js，开发体验非常友好，并且能通过Weex提供接近原生的性能。这是我们快速构建多端应用的理想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后端是我们项目的核心，我们采用了最新的Spring Boot 3.2.5版本。选择它的原因很简单：首先，它能极大地提高开发效率，让我们专注于业务逻辑。其次，它是构建微服务的基石，为未来的系统扩展铺平了道路。最后，它拥有无与伦比的生态系统和优越的性能表现。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在数据存储方面，我们采用了经典的MySQL加Redis组合。MySQL负责持久化存储，而Redis作为缓存和计数器，保证了系统的高性能。此外，我们还集成了一系列优秀的第三方组件，如MyBatis Plus简化数据库操作，Knife4j生成API文档，以及雪花算法来解决分布式ID的问题。这些组件共同构成了我们强大而高效的技术体系。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来看系统的功能模块。首先是用户认证和会员管理。用户认证模块是系统的安全基石，我们实现了包括手机号注册、JWT认证在内的完整流程。在此基础上，会员管理模块构建了灵活的会员体系，通过定义不同的会员等级和权益，为项目的商业化打下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是另外三个核心模块。使用次数管理模块，通过Redis实现了对免费用户的智能限流。AI对话历史模块，完整记录了用户的每一次交互，方便用户回溯。最后是订单管理模块，它对接了支付平台，实现了从下单到会员激活的全自动流程。这五个模块共同构成了我们完整的业务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的数据库设计。我们围绕核心业务设计了六张主要的表。用户表是基础，会员信息表定义了产品，用户会员表和订单表则记录了用户的消费行为，而对话历史表和使用次数表则记录了用户的使用行为。这些表通过用户ID等关键字段关联，形成了一个完整、规范的数据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我们的后端通过RESTful API提供服务。这里展示了几个核心接口，包括用户登录、获取用户信息，以及最重要的AI文案生成接口。所有需要用户身份的接口都通过JWT令牌进行认证，保证了接口的安全性和无状态性。这些接口设计清晰、规范，便于前端开发和后续维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接口开发方面，我们的一个亮点是集成了Knife4j。它能根据我们的代码注解自动生成非常美观和实用的在线API文档。这不仅保证了文档的实时性和准确性，还提供了在线调试功能，极大地提升了前后端的协作效率，降低了沟通成本。大家可以看到，这就是我们生成的API文档界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另外两个技术亮点是雪花算法和基于Redis的智能配额管理。雪花算法为我们解决了分布式环境下的唯一ID生成问题，保证了数据的唯一性和有序性。而智能配额管理，则巧妙地利用Redis的原子操作和过期机制，实现了对免费用户使用次数的高效、精准控制，无需复杂的定时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部署方面，我们全面采用了Docker容器化技术。这带来了诸多好处，最核心的是保证了开发、测试和生产环境的一致性，彻底解决了“在我机器上是好的”问题。同时，它也极大地简化了部署流程，提高了系统的安全性和可移植性。我们的部署流程清晰明了，从代码构建到启动容器，实现了高度自动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一下我们的项目成果。首先，我们交付了一个功能完整的后端服务，实现了从用户到付费的全业务流程。其次，我们搭建了一个高可扩展的架构，为未来的功能迭代和系统演进奠定了坚实基础。最后，我们始终坚持高质量的代码标准，通过规范、测试和审查，确保了项目的健壮性和可维护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展望未来，我们有清晰的规划。在AI能力上，我们将集成更强大的模型，并探索模型微调和多模态能力。在产品功能上，我们将完善前端体验，并加入数据分析和运营后台。最终，我们希望实现多语言支持，将AI-ToolBox打造成为一个真正的国际化智能内容创作平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进行总结。AI-ToolBox项目不仅创造了商业价值，解决了用户痛点，也让我们团队在技术上获得了宝贵的成长。我们掌握了一系列企业级开发的关键技术。展望未来，我们充满信心，将继续努力，把AI-ToolBox推向新的高度，创造更大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请允许我介绍一下我们项目团队的成员分工。成员一负责整体架构和后端核心代码；成员二专注于数据库的构建与优化；成员三负责项目跟进和文档整理；成员四到成员六则分别负责前端不同模块的功能实现与美化。正是团队成员的紧密协作，才确保了项目的顺利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接下来，我们进入项目展示环节。我将为大家现场演示AI-ToolBox的核心功能，包括用户登录、AI文案生成、会员购买等。通过实际操作，大家可以更直观地感受到我们产品的便捷性和实用性。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我的汇报到此结束，感谢大家的聆听！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notesSlides/notesSlide3.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4.svg" Type="http://schemas.openxmlformats.org/officeDocument/2006/relationships/image"/><Relationship Id="rId11" Target="../notesSlides/notesSlide5.xml" Type="http://schemas.openxmlformats.org/officeDocument/2006/relationships/notesSlide"/><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7.xml" Type="http://schemas.openxmlformats.org/officeDocument/2006/relationships/notesSlide"/><Relationship Id="rId2" Target="../media/image2.jpeg" Type="http://schemas.openxmlformats.org/officeDocument/2006/relationships/image"/><Relationship Id="rId3" Target="../media/image31.jpe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36.png" Type="http://schemas.openxmlformats.org/officeDocument/2006/relationships/image"/><Relationship Id="rId9" Target="../media/image3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notesSlides/notesSlide8.xml" Type="http://schemas.openxmlformats.org/officeDocument/2006/relationships/notesSlide"/><Relationship Id="rId2" Target="../media/image2.jpeg" Type="http://schemas.openxmlformats.org/officeDocument/2006/relationships/image"/><Relationship Id="rId3" Target="../media/image38.jpe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8.sv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13" Target="../notesSlides/notesSlide9.xml" Type="http://schemas.openxmlformats.org/officeDocument/2006/relationships/notesSlide"/><Relationship Id="rId2" Target="../media/image2.jpeg" Type="http://schemas.openxmlformats.org/officeDocument/2006/relationships/image"/><Relationship Id="rId3" Target="../media/image43.jpeg" Type="http://schemas.openxmlformats.org/officeDocument/2006/relationships/image"/><Relationship Id="rId4" Target="../media/image44.jpe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4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9.png" Type="http://schemas.openxmlformats.org/officeDocument/2006/relationships/image"/><Relationship Id="rId4" Target="../media/image50.svg" Type="http://schemas.openxmlformats.org/officeDocument/2006/relationships/image"/><Relationship Id="rId5" Target="../media/image51.png" Type="http://schemas.openxmlformats.org/officeDocument/2006/relationships/image"/><Relationship Id="rId6" Target="../media/image52.svg" Type="http://schemas.openxmlformats.org/officeDocument/2006/relationships/image"/><Relationship Id="rId7"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media/image57.png" Type="http://schemas.openxmlformats.org/officeDocument/2006/relationships/image"/><Relationship Id="rId8" Target="../media/image58.svg" Type="http://schemas.openxmlformats.org/officeDocument/2006/relationships/image"/><Relationship Id="rId9"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8.svg" Type="http://schemas.openxmlformats.org/officeDocument/2006/relationships/image"/><Relationship Id="rId11" Target="../media/image55.png" Type="http://schemas.openxmlformats.org/officeDocument/2006/relationships/image"/><Relationship Id="rId12" Target="../media/image56.svg" Type="http://schemas.openxmlformats.org/officeDocument/2006/relationships/image"/><Relationship Id="rId13" Target="../media/image65.png" Type="http://schemas.openxmlformats.org/officeDocument/2006/relationships/image"/><Relationship Id="rId14" Target="../media/image66.svg" Type="http://schemas.openxmlformats.org/officeDocument/2006/relationships/image"/><Relationship Id="rId15" Target="../notesSlides/notesSlide12.xml" Type="http://schemas.openxmlformats.org/officeDocument/2006/relationships/notesSlide"/><Relationship Id="rId2" Target="../media/image2.jpe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 Id="rId9" Target="../media/image5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67.png" Type="http://schemas.openxmlformats.org/officeDocument/2006/relationships/image"/><Relationship Id="rId4" Target="../media/image68.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71.png" Type="http://schemas.openxmlformats.org/officeDocument/2006/relationships/image"/><Relationship Id="rId8" Target="../media/image72.svg" Type="http://schemas.openxmlformats.org/officeDocument/2006/relationships/image"/><Relationship Id="rId9"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73.png" Type="http://schemas.openxmlformats.org/officeDocument/2006/relationships/image"/><Relationship Id="rId4" Target="../media/image74.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8.png" Type="http://schemas.openxmlformats.org/officeDocument/2006/relationships/image"/><Relationship Id="rId11" Target="../media/image79.svg" Type="http://schemas.openxmlformats.org/officeDocument/2006/relationships/image"/><Relationship Id="rId12" Target="../notesSlides/notesSlide16.xml" Type="http://schemas.openxmlformats.org/officeDocument/2006/relationships/notesSlide"/><Relationship Id="rId2" Target="../media/image2.jpeg" Type="http://schemas.openxmlformats.org/officeDocument/2006/relationships/image"/><Relationship Id="rId3" Target="../media/image75.jpe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76.png" Type="http://schemas.openxmlformats.org/officeDocument/2006/relationships/image"/><Relationship Id="rId7" Target="../media/image77.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80.png" Type="http://schemas.openxmlformats.org/officeDocument/2006/relationships/image"/><Relationship Id="rId8" Target="../media/image81.svg" Type="http://schemas.openxmlformats.org/officeDocument/2006/relationships/image"/><Relationship Id="rId9"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9.svg" Type="http://schemas.openxmlformats.org/officeDocument/2006/relationships/image"/><Relationship Id="rId11" Target="../notesSlides/notesSlide18.xml" Type="http://schemas.openxmlformats.org/officeDocument/2006/relationships/notesSlide"/><Relationship Id="rId2" Target="../media/image2.jpeg" Type="http://schemas.openxmlformats.org/officeDocument/2006/relationships/imag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8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76.png" Type="http://schemas.openxmlformats.org/officeDocument/2006/relationships/image"/><Relationship Id="rId4" Target="../media/image77.svg" Type="http://schemas.openxmlformats.org/officeDocument/2006/relationships/image"/><Relationship Id="rId5" Target="../media/image82.png" Type="http://schemas.openxmlformats.org/officeDocument/2006/relationships/image"/><Relationship Id="rId6" Target="../media/image83.svg" Type="http://schemas.openxmlformats.org/officeDocument/2006/relationships/image"/><Relationship Id="rId7" Target="../media/image90.png" Type="http://schemas.openxmlformats.org/officeDocument/2006/relationships/image"/><Relationship Id="rId8" Target="../media/image91.svg" Type="http://schemas.openxmlformats.org/officeDocument/2006/relationships/image"/><Relationship Id="rId9"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svg" Type="http://schemas.openxmlformats.org/officeDocument/2006/relationships/image"/><Relationship Id="rId11" Target="../media/image84.png" Type="http://schemas.openxmlformats.org/officeDocument/2006/relationships/image"/><Relationship Id="rId12" Target="../media/image85.svg" Type="http://schemas.openxmlformats.org/officeDocument/2006/relationships/image"/><Relationship Id="rId13" Target="../media/image98.png" Type="http://schemas.openxmlformats.org/officeDocument/2006/relationships/image"/><Relationship Id="rId14" Target="../media/image99.svg" Type="http://schemas.openxmlformats.org/officeDocument/2006/relationships/image"/><Relationship Id="rId15" Target="../notesSlides/notesSlide20.xml" Type="http://schemas.openxmlformats.org/officeDocument/2006/relationships/notesSlide"/><Relationship Id="rId2" Target="../media/image2.jpeg" Type="http://schemas.openxmlformats.org/officeDocument/2006/relationships/image"/><Relationship Id="rId3" Target="../media/image92.png" Type="http://schemas.openxmlformats.org/officeDocument/2006/relationships/image"/><Relationship Id="rId4" Target="../media/image93.svg" Type="http://schemas.openxmlformats.org/officeDocument/2006/relationships/image"/><Relationship Id="rId5" Target="../media/image94.png" Type="http://schemas.openxmlformats.org/officeDocument/2006/relationships/image"/><Relationship Id="rId6" Target="../media/image95.svg" Type="http://schemas.openxmlformats.org/officeDocument/2006/relationships/image"/><Relationship Id="rId7" Target="../media/image96.png" Type="http://schemas.openxmlformats.org/officeDocument/2006/relationships/image"/><Relationship Id="rId8" Target="../media/image97.svg" Type="http://schemas.openxmlformats.org/officeDocument/2006/relationships/image"/><Relationship Id="rId9" Target="../media/image1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0.jpeg" Type="http://schemas.openxmlformats.org/officeDocument/2006/relationships/image"/><Relationship Id="rId3" Target="../notesSlides/notesSlide22.xml" Type="http://schemas.openxmlformats.org/officeDocument/2006/relationships/notesSlide"/><Relationship Id="rId4" Target="../media/image10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19050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AI-ToolBox 项目汇报</a:t>
            </a:r>
            <a:endParaRPr lang="en-US" sz="1100"/>
          </a:p>
        </p:txBody>
      </p:sp>
      <p:sp>
        <p:nvSpPr>
          <p:cNvPr name="AutoShape 4" id="4"/>
          <p:cNvSpPr/>
          <p:nvPr/>
        </p:nvSpPr>
        <p:spPr>
          <a:xfrm rot="0" flipH="false" flipV="false">
            <a:off x="0" y="3048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FFFFFF">
                    <a:alpha val="90196"/>
                  </a:srgbClr>
                </a:solidFill>
                <a:latin typeface="Noto Sans SC"/>
                <a:ea typeface="Noto Sans SC"/>
                <a:cs typeface="Noto Sans SC"/>
                <a:sym typeface="Noto Sans SC"/>
              </a:rPr>
              <a:t>基于 Spring Boot 的 AI 文案生成服务</a:t>
            </a:r>
            <a:endParaRPr lang="en-US" sz="1100"/>
          </a:p>
        </p:txBody>
      </p:sp>
      <p:sp>
        <p:nvSpPr>
          <p:cNvPr name="AutoShape 5" id="5"/>
          <p:cNvSpPr/>
          <p:nvPr/>
        </p:nvSpPr>
        <p:spPr>
          <a:xfrm rot="0" flipH="false" flipV="false">
            <a:off x="5588000" y="3937000"/>
            <a:ext cx="10160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4572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演讲人：[你的名字]</a:t>
            </a:r>
            <a:endParaRPr lang="en-US" sz="1100"/>
          </a:p>
        </p:txBody>
      </p:sp>
      <p:sp>
        <p:nvSpPr>
          <p:cNvPr name="AutoShape 7" id="7"/>
          <p:cNvSpPr/>
          <p:nvPr/>
        </p:nvSpPr>
        <p:spPr>
          <a:xfrm rot="0" flipH="false" flipV="false">
            <a:off x="0" y="5207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日 期：[汇报日期]</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目录 CONTENTS</a:t>
            </a:r>
            <a:endParaRPr lang="en-US" sz="1100"/>
          </a:p>
        </p:txBody>
      </p:sp>
      <p:sp>
        <p:nvSpPr>
          <p:cNvPr name="AutoShape 3" id="3"/>
          <p:cNvSpPr/>
          <p:nvPr/>
        </p:nvSpPr>
        <p:spPr>
          <a:xfrm rot="0" flipH="false" flipV="false">
            <a:off x="762000" y="1397000"/>
            <a:ext cx="5207000" cy="1143000"/>
          </a:xfrm>
          <a:prstGeom prst="roundRect">
            <a:avLst>
              <a:gd name="adj" fmla="val 13333"/>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952500" y="1587500"/>
            <a:ext cx="762000" cy="762000"/>
          </a:xfrm>
          <a:prstGeom prst="ellipse">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752600"/>
            <a:ext cx="762000" cy="431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1905000" y="1625600"/>
            <a:ext cx="3810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项目背景与目标</a:t>
            </a:r>
            <a:endParaRPr lang="en-US" sz="1100"/>
          </a:p>
        </p:txBody>
      </p:sp>
      <p:sp>
        <p:nvSpPr>
          <p:cNvPr name="AutoShape 7" id="7"/>
          <p:cNvSpPr/>
          <p:nvPr/>
        </p:nvSpPr>
        <p:spPr>
          <a:xfrm rot="0" flipH="false" flipV="false">
            <a:off x="1905000" y="2032000"/>
            <a:ext cx="3810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内容创作的挑战与机遇，明确项目核心价值</a:t>
            </a:r>
            <a:endParaRPr lang="en-US" sz="1100"/>
          </a:p>
        </p:txBody>
      </p:sp>
      <p:sp>
        <p:nvSpPr>
          <p:cNvPr name="AutoShape 8" id="8"/>
          <p:cNvSpPr/>
          <p:nvPr/>
        </p:nvSpPr>
        <p:spPr>
          <a:xfrm rot="0" flipH="false" flipV="false">
            <a:off x="762000" y="2730500"/>
            <a:ext cx="5207000" cy="1143000"/>
          </a:xfrm>
          <a:prstGeom prst="roundRect">
            <a:avLst>
              <a:gd name="adj" fmla="val 13333"/>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952500" y="2921000"/>
            <a:ext cx="762000" cy="762000"/>
          </a:xfrm>
          <a:prstGeom prst="ellipse">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52500" y="3086100"/>
            <a:ext cx="762000" cy="431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02</a:t>
            </a:r>
            <a:endParaRPr lang="en-US" sz="1100"/>
          </a:p>
        </p:txBody>
      </p:sp>
      <p:sp>
        <p:nvSpPr>
          <p:cNvPr name="AutoShape 11" id="11"/>
          <p:cNvSpPr/>
          <p:nvPr/>
        </p:nvSpPr>
        <p:spPr>
          <a:xfrm rot="0" flipH="false" flipV="false">
            <a:off x="1905000" y="2959100"/>
            <a:ext cx="3810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技术架构</a:t>
            </a:r>
            <a:endParaRPr lang="en-US" sz="1100"/>
          </a:p>
        </p:txBody>
      </p:sp>
      <p:sp>
        <p:nvSpPr>
          <p:cNvPr name="AutoShape 12" id="12"/>
          <p:cNvSpPr/>
          <p:nvPr/>
        </p:nvSpPr>
        <p:spPr>
          <a:xfrm rot="0" flipH="false" flipV="false">
            <a:off x="1905000" y="3365500"/>
            <a:ext cx="3810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前后端分离的现代化微服务架构设计</a:t>
            </a:r>
            <a:endParaRPr lang="en-US" sz="1100"/>
          </a:p>
        </p:txBody>
      </p:sp>
      <p:sp>
        <p:nvSpPr>
          <p:cNvPr name="AutoShape 13" id="13"/>
          <p:cNvSpPr/>
          <p:nvPr/>
        </p:nvSpPr>
        <p:spPr>
          <a:xfrm rot="0" flipH="false" flipV="false">
            <a:off x="762000" y="4064000"/>
            <a:ext cx="5207000" cy="1143000"/>
          </a:xfrm>
          <a:prstGeom prst="roundRect">
            <a:avLst>
              <a:gd name="adj" fmla="val 13333"/>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952500" y="4254500"/>
            <a:ext cx="762000" cy="762000"/>
          </a:xfrm>
          <a:prstGeom prst="ellipse">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52500" y="4419600"/>
            <a:ext cx="762000" cy="431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03</a:t>
            </a:r>
            <a:endParaRPr lang="en-US" sz="1100"/>
          </a:p>
        </p:txBody>
      </p:sp>
      <p:sp>
        <p:nvSpPr>
          <p:cNvPr name="AutoShape 16" id="16"/>
          <p:cNvSpPr/>
          <p:nvPr/>
        </p:nvSpPr>
        <p:spPr>
          <a:xfrm rot="0" flipH="false" flipV="false">
            <a:off x="1905000" y="4292600"/>
            <a:ext cx="3810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系统功能模块</a:t>
            </a:r>
            <a:endParaRPr lang="en-US" sz="1100"/>
          </a:p>
        </p:txBody>
      </p:sp>
      <p:sp>
        <p:nvSpPr>
          <p:cNvPr name="AutoShape 17" id="17"/>
          <p:cNvSpPr/>
          <p:nvPr/>
        </p:nvSpPr>
        <p:spPr>
          <a:xfrm rot="0" flipH="false" flipV="false">
            <a:off x="1905000" y="4699000"/>
            <a:ext cx="3810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核心业务流程实现与关键功能展示</a:t>
            </a:r>
            <a:endParaRPr lang="en-US" sz="1100"/>
          </a:p>
        </p:txBody>
      </p:sp>
      <p:sp>
        <p:nvSpPr>
          <p:cNvPr name="AutoShape 18" id="18"/>
          <p:cNvSpPr/>
          <p:nvPr/>
        </p:nvSpPr>
        <p:spPr>
          <a:xfrm rot="0" flipH="false" flipV="false">
            <a:off x="762000" y="5397500"/>
            <a:ext cx="5207000" cy="1143000"/>
          </a:xfrm>
          <a:prstGeom prst="roundRect">
            <a:avLst>
              <a:gd name="adj" fmla="val 13333"/>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952500" y="5588000"/>
            <a:ext cx="762000" cy="762000"/>
          </a:xfrm>
          <a:prstGeom prst="ellipse">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52500" y="5753100"/>
            <a:ext cx="762000" cy="431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04</a:t>
            </a:r>
            <a:endParaRPr lang="en-US" sz="1100"/>
          </a:p>
        </p:txBody>
      </p:sp>
      <p:sp>
        <p:nvSpPr>
          <p:cNvPr name="AutoShape 21" id="21"/>
          <p:cNvSpPr/>
          <p:nvPr/>
        </p:nvSpPr>
        <p:spPr>
          <a:xfrm rot="0" flipH="false" flipV="false">
            <a:off x="1905000" y="5626100"/>
            <a:ext cx="3810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数据库设计</a:t>
            </a:r>
            <a:endParaRPr lang="en-US" sz="1100"/>
          </a:p>
        </p:txBody>
      </p:sp>
      <p:sp>
        <p:nvSpPr>
          <p:cNvPr name="AutoShape 22" id="22"/>
          <p:cNvSpPr/>
          <p:nvPr/>
        </p:nvSpPr>
        <p:spPr>
          <a:xfrm rot="0" flipH="false" flipV="false">
            <a:off x="1905000" y="6032500"/>
            <a:ext cx="3810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高可用、易扩展的业务支撑数据结构</a:t>
            </a:r>
            <a:endParaRPr lang="en-US" sz="1100"/>
          </a:p>
        </p:txBody>
      </p:sp>
      <p:sp>
        <p:nvSpPr>
          <p:cNvPr name="AutoShape 23" id="23"/>
          <p:cNvSpPr/>
          <p:nvPr/>
        </p:nvSpPr>
        <p:spPr>
          <a:xfrm rot="0" flipH="false" flipV="false">
            <a:off x="6223000" y="1397000"/>
            <a:ext cx="5207000" cy="1143000"/>
          </a:xfrm>
          <a:prstGeom prst="roundRect">
            <a:avLst>
              <a:gd name="adj" fmla="val 13333"/>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413500" y="1587500"/>
            <a:ext cx="762000" cy="762000"/>
          </a:xfrm>
          <a:prstGeom prst="ellipse">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413500" y="1752600"/>
            <a:ext cx="762000" cy="431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05</a:t>
            </a:r>
            <a:endParaRPr lang="en-US" sz="1100"/>
          </a:p>
        </p:txBody>
      </p:sp>
      <p:sp>
        <p:nvSpPr>
          <p:cNvPr name="AutoShape 26" id="26"/>
          <p:cNvSpPr/>
          <p:nvPr/>
        </p:nvSpPr>
        <p:spPr>
          <a:xfrm rot="0" flipH="false" flipV="false">
            <a:off x="7366000" y="1625600"/>
            <a:ext cx="3810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核心接口与技术亮点</a:t>
            </a:r>
            <a:endParaRPr lang="en-US" sz="1100"/>
          </a:p>
        </p:txBody>
      </p:sp>
      <p:sp>
        <p:nvSpPr>
          <p:cNvPr name="AutoShape 27" id="27"/>
          <p:cNvSpPr/>
          <p:nvPr/>
        </p:nvSpPr>
        <p:spPr>
          <a:xfrm rot="0" flipH="false" flipV="false">
            <a:off x="7366000" y="2032000"/>
            <a:ext cx="3810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RESTful API 规范设计与关键技术难点攻克</a:t>
            </a:r>
            <a:endParaRPr lang="en-US" sz="1100"/>
          </a:p>
        </p:txBody>
      </p:sp>
      <p:sp>
        <p:nvSpPr>
          <p:cNvPr name="AutoShape 28" id="28"/>
          <p:cNvSpPr/>
          <p:nvPr/>
        </p:nvSpPr>
        <p:spPr>
          <a:xfrm rot="0" flipH="false" flipV="false">
            <a:off x="6223000" y="2730500"/>
            <a:ext cx="5207000" cy="1143000"/>
          </a:xfrm>
          <a:prstGeom prst="roundRect">
            <a:avLst>
              <a:gd name="adj" fmla="val 13333"/>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413500" y="2921000"/>
            <a:ext cx="762000" cy="762000"/>
          </a:xfrm>
          <a:prstGeom prst="ellipse">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413500" y="3086100"/>
            <a:ext cx="762000" cy="431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06</a:t>
            </a:r>
            <a:endParaRPr lang="en-US" sz="1100"/>
          </a:p>
        </p:txBody>
      </p:sp>
      <p:sp>
        <p:nvSpPr>
          <p:cNvPr name="AutoShape 31" id="31"/>
          <p:cNvSpPr/>
          <p:nvPr/>
        </p:nvSpPr>
        <p:spPr>
          <a:xfrm rot="0" flipH="false" flipV="false">
            <a:off x="7366000" y="2959100"/>
            <a:ext cx="3810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部署方案与项目成果</a:t>
            </a:r>
            <a:endParaRPr lang="en-US" sz="1100"/>
          </a:p>
        </p:txBody>
      </p:sp>
      <p:sp>
        <p:nvSpPr>
          <p:cNvPr name="AutoShape 32" id="32"/>
          <p:cNvSpPr/>
          <p:nvPr/>
        </p:nvSpPr>
        <p:spPr>
          <a:xfrm rot="0" flipH="false" flipV="false">
            <a:off x="7366000" y="3365500"/>
            <a:ext cx="3810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CI/CD 自动化流水线与上线后的运行成效</a:t>
            </a:r>
            <a:endParaRPr lang="en-US" sz="1100"/>
          </a:p>
        </p:txBody>
      </p:sp>
      <p:sp>
        <p:nvSpPr>
          <p:cNvPr name="AutoShape 33" id="33"/>
          <p:cNvSpPr/>
          <p:nvPr/>
        </p:nvSpPr>
        <p:spPr>
          <a:xfrm rot="0" flipH="false" flipV="false">
            <a:off x="6223000" y="4064000"/>
            <a:ext cx="5207000" cy="1143000"/>
          </a:xfrm>
          <a:prstGeom prst="roundRect">
            <a:avLst>
              <a:gd name="adj" fmla="val 13333"/>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413500" y="4254500"/>
            <a:ext cx="762000" cy="762000"/>
          </a:xfrm>
          <a:prstGeom prst="ellipse">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6413500" y="4419600"/>
            <a:ext cx="762000" cy="431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07</a:t>
            </a:r>
            <a:endParaRPr lang="en-US" sz="1100"/>
          </a:p>
        </p:txBody>
      </p:sp>
      <p:sp>
        <p:nvSpPr>
          <p:cNvPr name="AutoShape 36" id="36"/>
          <p:cNvSpPr/>
          <p:nvPr/>
        </p:nvSpPr>
        <p:spPr>
          <a:xfrm rot="0" flipH="false" flipV="false">
            <a:off x="7366000" y="4292600"/>
            <a:ext cx="3810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未来规划与展望</a:t>
            </a:r>
            <a:endParaRPr lang="en-US" sz="1100"/>
          </a:p>
        </p:txBody>
      </p:sp>
      <p:sp>
        <p:nvSpPr>
          <p:cNvPr name="AutoShape 37" id="37"/>
          <p:cNvSpPr/>
          <p:nvPr/>
        </p:nvSpPr>
        <p:spPr>
          <a:xfrm rot="0" flipH="false" flipV="false">
            <a:off x="7366000" y="4699000"/>
            <a:ext cx="3810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功能迭代路线图与技术演进方向</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01 项目背景与目标</a:t>
            </a:r>
            <a:endParaRPr lang="en-US" sz="1100"/>
          </a:p>
        </p:txBody>
      </p:sp>
      <p:sp>
        <p:nvSpPr>
          <p:cNvPr name="AutoShape 4" id="4"/>
          <p:cNvSpPr/>
          <p:nvPr/>
        </p:nvSpPr>
        <p:spPr>
          <a:xfrm rot="0" flipH="false" flipV="false">
            <a:off x="762000" y="1206500"/>
            <a:ext cx="762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0B981"/>
                </a:solidFill>
                <a:latin typeface="Noto Sans SC"/>
                <a:ea typeface="Noto Sans SC"/>
                <a:cs typeface="Noto Sans SC"/>
                <a:sym typeface="Noto Sans SC"/>
              </a:rPr>
              <a:t>内容创作的“新常态”与核心挑战</a:t>
            </a:r>
            <a:endParaRPr lang="en-US" sz="1100"/>
          </a:p>
        </p:txBody>
      </p:sp>
      <p:sp>
        <p:nvSpPr>
          <p:cNvPr name="AutoShape 5" id="5"/>
          <p:cNvSpPr/>
          <p:nvPr/>
        </p:nvSpPr>
        <p:spPr>
          <a:xfrm rot="0" flipH="false" flipV="false">
            <a:off x="762000" y="1905000"/>
            <a:ext cx="3556000" cy="4191000"/>
          </a:xfrm>
          <a:prstGeom prst="roundRect">
            <a:avLst>
              <a:gd name="adj" fmla="val 5714"/>
            </a:avLst>
          </a:prstGeom>
          <a:solidFill>
            <a:srgbClr val="FFFFFF">
              <a:alpha val="95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222500"/>
            <a:ext cx="812800" cy="8128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168400" y="2374900"/>
            <a:ext cx="508000" cy="508000"/>
          </a:xfrm>
          <a:prstGeom prst="rect">
            <a:avLst/>
          </a:prstGeom>
        </p:spPr>
      </p:pic>
      <p:sp>
        <p:nvSpPr>
          <p:cNvPr name="AutoShape 8" id="8"/>
          <p:cNvSpPr/>
          <p:nvPr/>
        </p:nvSpPr>
        <p:spPr>
          <a:xfrm rot="0" flipH="false" flipV="false">
            <a:off x="1016000" y="3238500"/>
            <a:ext cx="304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需求爆炸式增长</a:t>
            </a:r>
            <a:endParaRPr lang="en-US" sz="1100"/>
          </a:p>
        </p:txBody>
      </p:sp>
      <p:sp>
        <p:nvSpPr>
          <p:cNvPr name="AutoShape 9" id="9"/>
          <p:cNvSpPr/>
          <p:nvPr/>
        </p:nvSpPr>
        <p:spPr>
          <a:xfrm rot="0" flipH="false" flipV="false">
            <a:off x="1016000" y="3746500"/>
            <a:ext cx="3048000" cy="254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16000" y="4000500"/>
            <a:ext cx="3048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在社交媒体蓬勃发展的当下，为维持用户粘性与品牌活跃度，企业与创作者需高频次、高质量地输出多样化内容，生产压力陡增。</a:t>
            </a:r>
            <a:endParaRPr lang="en-US" sz="1100"/>
          </a:p>
        </p:txBody>
      </p:sp>
      <p:sp>
        <p:nvSpPr>
          <p:cNvPr name="AutoShape 11" id="11"/>
          <p:cNvSpPr/>
          <p:nvPr/>
        </p:nvSpPr>
        <p:spPr>
          <a:xfrm rot="0" flipH="false" flipV="false">
            <a:off x="4572000" y="1905000"/>
            <a:ext cx="3302000" cy="1968500"/>
          </a:xfrm>
          <a:prstGeom prst="roundRect">
            <a:avLst>
              <a:gd name="adj" fmla="val 10322"/>
            </a:avLst>
          </a:prstGeom>
          <a:solidFill>
            <a:srgbClr val="FFFFFF">
              <a:alpha val="95000"/>
            </a:srgbClr>
          </a:solidFill>
          <a:ln w="25400" cmpd="sng" cap="flat">
            <a:noFill/>
            <a:prstDash val="solid"/>
            <a:round/>
          </a:ln>
          <a:effectLst>
            <a:outerShdw dir="2700000" dist="381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826000" y="2159000"/>
            <a:ext cx="711200" cy="7112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978400" y="2311400"/>
            <a:ext cx="406400" cy="406400"/>
          </a:xfrm>
          <a:prstGeom prst="rect">
            <a:avLst/>
          </a:prstGeom>
        </p:spPr>
      </p:pic>
      <p:sp>
        <p:nvSpPr>
          <p:cNvPr name="AutoShape 14" id="14"/>
          <p:cNvSpPr/>
          <p:nvPr/>
        </p:nvSpPr>
        <p:spPr>
          <a:xfrm rot="0" flipH="false" flipV="false">
            <a:off x="5715000" y="2222500"/>
            <a:ext cx="1905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效率低下</a:t>
            </a:r>
            <a:endParaRPr lang="en-US" sz="1100"/>
          </a:p>
        </p:txBody>
      </p:sp>
      <p:sp>
        <p:nvSpPr>
          <p:cNvPr name="AutoShape 15" id="15"/>
          <p:cNvSpPr/>
          <p:nvPr/>
        </p:nvSpPr>
        <p:spPr>
          <a:xfrm rot="0" flipH="false" flipV="false">
            <a:off x="5715000" y="2667000"/>
            <a:ext cx="1905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100">
                <a:solidFill>
                  <a:srgbClr val="6B7280"/>
                </a:solidFill>
                <a:latin typeface="Noto Sans SC"/>
                <a:ea typeface="Noto Sans SC"/>
                <a:cs typeface="Noto Sans SC"/>
                <a:sym typeface="Noto Sans SC"/>
              </a:rPr>
              <a:t>传统人工模式耗时耗力，难以应对快速迭代的市场内容需求。</a:t>
            </a:r>
            <a:endParaRPr lang="en-US" sz="1100"/>
          </a:p>
        </p:txBody>
      </p:sp>
      <p:sp>
        <p:nvSpPr>
          <p:cNvPr name="AutoShape 16" id="16"/>
          <p:cNvSpPr/>
          <p:nvPr/>
        </p:nvSpPr>
        <p:spPr>
          <a:xfrm rot="0" flipH="false" flipV="false">
            <a:off x="8128000" y="1905000"/>
            <a:ext cx="3302000" cy="1968500"/>
          </a:xfrm>
          <a:prstGeom prst="roundRect">
            <a:avLst>
              <a:gd name="adj" fmla="val 10322"/>
            </a:avLst>
          </a:prstGeom>
          <a:solidFill>
            <a:srgbClr val="FFFFFF">
              <a:alpha val="95000"/>
            </a:srgbClr>
          </a:solidFill>
          <a:ln w="25400" cmpd="sng" cap="flat">
            <a:noFill/>
            <a:prstDash val="solid"/>
            <a:round/>
          </a:ln>
          <a:effectLst>
            <a:outerShdw dir="2700000" dist="381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382000" y="2159000"/>
            <a:ext cx="711200" cy="7112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534400" y="2311400"/>
            <a:ext cx="406400" cy="406400"/>
          </a:xfrm>
          <a:prstGeom prst="rect">
            <a:avLst/>
          </a:prstGeom>
        </p:spPr>
      </p:pic>
      <p:sp>
        <p:nvSpPr>
          <p:cNvPr name="AutoShape 19" id="19"/>
          <p:cNvSpPr/>
          <p:nvPr/>
        </p:nvSpPr>
        <p:spPr>
          <a:xfrm rot="0" flipH="false" flipV="false">
            <a:off x="9271000" y="2222500"/>
            <a:ext cx="1905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创意枯竭</a:t>
            </a:r>
            <a:endParaRPr lang="en-US" sz="1100"/>
          </a:p>
        </p:txBody>
      </p:sp>
      <p:sp>
        <p:nvSpPr>
          <p:cNvPr name="AutoShape 20" id="20"/>
          <p:cNvSpPr/>
          <p:nvPr/>
        </p:nvSpPr>
        <p:spPr>
          <a:xfrm rot="0" flipH="false" flipV="false">
            <a:off x="9271000" y="2667000"/>
            <a:ext cx="1905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100">
                <a:solidFill>
                  <a:srgbClr val="6B7280"/>
                </a:solidFill>
                <a:latin typeface="Noto Sans SC"/>
                <a:ea typeface="Noto Sans SC"/>
                <a:cs typeface="Noto Sans SC"/>
                <a:sym typeface="Noto Sans SC"/>
              </a:rPr>
              <a:t>持续高压产出导致内容同质化严重，难以在海量信息中脱颖而出。</a:t>
            </a:r>
            <a:endParaRPr lang="en-US" sz="1100"/>
          </a:p>
        </p:txBody>
      </p:sp>
      <p:sp>
        <p:nvSpPr>
          <p:cNvPr name="AutoShape 21" id="21"/>
          <p:cNvSpPr/>
          <p:nvPr/>
        </p:nvSpPr>
        <p:spPr>
          <a:xfrm rot="0" flipH="false" flipV="false">
            <a:off x="4572000" y="4127500"/>
            <a:ext cx="3302000" cy="1968500"/>
          </a:xfrm>
          <a:prstGeom prst="roundRect">
            <a:avLst>
              <a:gd name="adj" fmla="val 10322"/>
            </a:avLst>
          </a:prstGeom>
          <a:solidFill>
            <a:srgbClr val="FFFFFF">
              <a:alpha val="95000"/>
            </a:srgbClr>
          </a:solidFill>
          <a:ln w="25400" cmpd="sng" cap="flat">
            <a:noFill/>
            <a:prstDash val="solid"/>
            <a:round/>
          </a:ln>
          <a:effectLst>
            <a:outerShdw dir="2700000" dist="381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4826000" y="4381500"/>
            <a:ext cx="711200" cy="7112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4978400" y="4533900"/>
            <a:ext cx="406400" cy="406400"/>
          </a:xfrm>
          <a:prstGeom prst="rect">
            <a:avLst/>
          </a:prstGeom>
        </p:spPr>
      </p:pic>
      <p:sp>
        <p:nvSpPr>
          <p:cNvPr name="AutoShape 24" id="24"/>
          <p:cNvSpPr/>
          <p:nvPr/>
        </p:nvSpPr>
        <p:spPr>
          <a:xfrm rot="0" flipH="false" flipV="false">
            <a:off x="5715000" y="4445000"/>
            <a:ext cx="1905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成本高昂</a:t>
            </a:r>
            <a:endParaRPr lang="en-US" sz="1100"/>
          </a:p>
        </p:txBody>
      </p:sp>
      <p:sp>
        <p:nvSpPr>
          <p:cNvPr name="AutoShape 25" id="25"/>
          <p:cNvSpPr/>
          <p:nvPr/>
        </p:nvSpPr>
        <p:spPr>
          <a:xfrm rot="0" flipH="false" flipV="false">
            <a:off x="5715000" y="4889500"/>
            <a:ext cx="1905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100">
                <a:solidFill>
                  <a:srgbClr val="6B7280"/>
                </a:solidFill>
                <a:latin typeface="Noto Sans SC"/>
                <a:ea typeface="Noto Sans SC"/>
                <a:cs typeface="Noto Sans SC"/>
                <a:sym typeface="Noto Sans SC"/>
              </a:rPr>
              <a:t>聘请多名专业文案人员进行持续创作，长期人力与时间成本不菲。</a:t>
            </a:r>
            <a:endParaRPr lang="en-US" sz="1100"/>
          </a:p>
        </p:txBody>
      </p:sp>
      <p:sp>
        <p:nvSpPr>
          <p:cNvPr name="AutoShape 26" id="26"/>
          <p:cNvSpPr/>
          <p:nvPr/>
        </p:nvSpPr>
        <p:spPr>
          <a:xfrm rot="0" flipH="false" flipV="false">
            <a:off x="8128000" y="4127500"/>
            <a:ext cx="3302000" cy="1968500"/>
          </a:xfrm>
          <a:prstGeom prst="roundRect">
            <a:avLst>
              <a:gd name="adj" fmla="val 10322"/>
            </a:avLst>
          </a:prstGeom>
          <a:solidFill>
            <a:srgbClr val="FFFFFF">
              <a:alpha val="95000"/>
            </a:srgbClr>
          </a:solidFill>
          <a:ln w="25400" cmpd="sng" cap="flat">
            <a:noFill/>
            <a:prstDash val="solid"/>
            <a:round/>
          </a:ln>
          <a:effectLst>
            <a:outerShdw dir="2700000" dist="381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382000" y="4381500"/>
            <a:ext cx="711200" cy="7112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8534400" y="4533900"/>
            <a:ext cx="406400" cy="406400"/>
          </a:xfrm>
          <a:prstGeom prst="rect">
            <a:avLst/>
          </a:prstGeom>
        </p:spPr>
      </p:pic>
      <p:sp>
        <p:nvSpPr>
          <p:cNvPr name="AutoShape 29" id="29"/>
          <p:cNvSpPr/>
          <p:nvPr/>
        </p:nvSpPr>
        <p:spPr>
          <a:xfrm rot="0" flipH="false" flipV="false">
            <a:off x="9271000" y="4445000"/>
            <a:ext cx="1905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专业壁垒高</a:t>
            </a:r>
            <a:endParaRPr lang="en-US" sz="1100"/>
          </a:p>
        </p:txBody>
      </p:sp>
      <p:sp>
        <p:nvSpPr>
          <p:cNvPr name="AutoShape 30" id="30"/>
          <p:cNvSpPr/>
          <p:nvPr/>
        </p:nvSpPr>
        <p:spPr>
          <a:xfrm rot="0" flipH="false" flipV="false">
            <a:off x="9271000" y="4889500"/>
            <a:ext cx="1905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100">
                <a:solidFill>
                  <a:srgbClr val="6B7280"/>
                </a:solidFill>
                <a:latin typeface="Noto Sans SC"/>
                <a:ea typeface="Noto Sans SC"/>
                <a:cs typeface="Noto Sans SC"/>
                <a:sym typeface="Noto Sans SC"/>
              </a:rPr>
              <a:t>不同平台、不同营销场景对文案风格要求迥异，创作门槛较高。</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01 项目背景与目标</a:t>
            </a:r>
            <a:endParaRPr lang="en-US" sz="1100"/>
          </a:p>
        </p:txBody>
      </p:sp>
      <p:sp>
        <p:nvSpPr>
          <p:cNvPr name="AutoShape 4" id="4"/>
          <p:cNvSpPr/>
          <p:nvPr/>
        </p:nvSpPr>
        <p:spPr>
          <a:xfrm rot="0" flipH="false" flipV="false">
            <a:off x="762000" y="1270000"/>
            <a:ext cx="10668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0B981"/>
                </a:solidFill>
                <a:latin typeface="Noto Sans SC"/>
                <a:ea typeface="Noto Sans SC"/>
                <a:cs typeface="Noto Sans SC"/>
                <a:sym typeface="Noto Sans SC"/>
              </a:rPr>
              <a:t>项目目标：打造高效智能的文案创作助手</a:t>
            </a:r>
            <a:endParaRPr lang="en-US" sz="1100"/>
          </a:p>
        </p:txBody>
      </p:sp>
      <p:sp>
        <p:nvSpPr>
          <p:cNvPr name="AutoShape 5" id="5"/>
          <p:cNvSpPr/>
          <p:nvPr/>
        </p:nvSpPr>
        <p:spPr>
          <a:xfrm rot="0" flipH="false" flipV="false">
            <a:off x="762000" y="190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为应对挑战，我们启动了“AI-ToolBox”项目，旨在构建一个集智能、高效、易用性于一体的AI文案生成服务，为用户提供全方位的内容创作支持。</a:t>
            </a:r>
            <a:endParaRPr lang="en-US" sz="1100"/>
          </a:p>
        </p:txBody>
      </p:sp>
      <p:sp>
        <p:nvSpPr>
          <p:cNvPr name="AutoShape 6" id="6"/>
          <p:cNvSpPr/>
          <p:nvPr/>
        </p:nvSpPr>
        <p:spPr>
          <a:xfrm rot="0" flipH="false" flipV="false">
            <a:off x="762000" y="2794000"/>
            <a:ext cx="3302000" cy="3048000"/>
          </a:xfrm>
          <a:prstGeom prst="roundRect">
            <a:avLst>
              <a:gd name="adj" fmla="val 5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1778000" y="3048000"/>
            <a:ext cx="1270000" cy="1270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032000" y="3302000"/>
            <a:ext cx="762000" cy="762000"/>
          </a:xfrm>
          <a:prstGeom prst="rect">
            <a:avLst/>
          </a:prstGeom>
        </p:spPr>
      </p:pic>
      <p:sp>
        <p:nvSpPr>
          <p:cNvPr name="AutoShape 9" id="9"/>
          <p:cNvSpPr/>
          <p:nvPr/>
        </p:nvSpPr>
        <p:spPr>
          <a:xfrm rot="0" flipH="false" flipV="false">
            <a:off x="1016000" y="4445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F2937"/>
                </a:solidFill>
                <a:latin typeface="Noto Sans SC"/>
                <a:ea typeface="Noto Sans SC"/>
                <a:cs typeface="Noto Sans SC"/>
                <a:sym typeface="Noto Sans SC"/>
              </a:rPr>
              <a:t>核心目标 · Core</a:t>
            </a:r>
            <a:endParaRPr lang="en-US" sz="1100"/>
          </a:p>
        </p:txBody>
      </p:sp>
      <p:sp>
        <p:nvSpPr>
          <p:cNvPr name="AutoShape 10" id="10"/>
          <p:cNvSpPr/>
          <p:nvPr/>
        </p:nvSpPr>
        <p:spPr>
          <a:xfrm rot="0" flipH="false" flipV="false">
            <a:off x="1016000" y="4953000"/>
            <a:ext cx="2794000" cy="762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100">
                <a:solidFill>
                  <a:srgbClr val="6B7280"/>
                </a:solidFill>
                <a:latin typeface="Noto Sans SC"/>
                <a:ea typeface="Noto Sans SC"/>
                <a:cs typeface="Noto Sans SC"/>
                <a:sym typeface="Noto Sans SC"/>
              </a:rPr>
              <a:t>构建稳定、可靠的后端服务，提供高并发支持，为前端应用提供强大的AI文案生成核心能力。</a:t>
            </a:r>
            <a:endParaRPr lang="en-US" sz="1100"/>
          </a:p>
        </p:txBody>
      </p:sp>
      <p:sp>
        <p:nvSpPr>
          <p:cNvPr name="AutoShape 11" id="11"/>
          <p:cNvSpPr/>
          <p:nvPr/>
        </p:nvSpPr>
        <p:spPr>
          <a:xfrm rot="0" flipH="false" flipV="false">
            <a:off x="4445000" y="2794000"/>
            <a:ext cx="3302000" cy="3048000"/>
          </a:xfrm>
          <a:prstGeom prst="roundRect">
            <a:avLst>
              <a:gd name="adj" fmla="val 5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461000" y="3048000"/>
            <a:ext cx="1270000" cy="1270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715000" y="3302000"/>
            <a:ext cx="762000" cy="762000"/>
          </a:xfrm>
          <a:prstGeom prst="rect">
            <a:avLst/>
          </a:prstGeom>
        </p:spPr>
      </p:pic>
      <p:sp>
        <p:nvSpPr>
          <p:cNvPr name="AutoShape 14" id="14"/>
          <p:cNvSpPr/>
          <p:nvPr/>
        </p:nvSpPr>
        <p:spPr>
          <a:xfrm rot="0" flipH="false" flipV="false">
            <a:off x="4699000" y="4445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F2937"/>
                </a:solidFill>
                <a:latin typeface="Noto Sans SC"/>
                <a:ea typeface="Noto Sans SC"/>
                <a:cs typeface="Noto Sans SC"/>
                <a:sym typeface="Noto Sans SC"/>
              </a:rPr>
              <a:t>功能目标 · Feature</a:t>
            </a:r>
            <a:endParaRPr lang="en-US" sz="1100"/>
          </a:p>
        </p:txBody>
      </p:sp>
      <p:sp>
        <p:nvSpPr>
          <p:cNvPr name="AutoShape 15" id="15"/>
          <p:cNvSpPr/>
          <p:nvPr/>
        </p:nvSpPr>
        <p:spPr>
          <a:xfrm rot="0" flipH="false" flipV="false">
            <a:off x="4699000" y="4953000"/>
            <a:ext cx="2794000" cy="762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100">
                <a:solidFill>
                  <a:srgbClr val="6B7280"/>
                </a:solidFill>
                <a:latin typeface="Noto Sans SC"/>
                <a:ea typeface="Noto Sans SC"/>
                <a:cs typeface="Noto Sans SC"/>
                <a:sym typeface="Noto Sans SC"/>
              </a:rPr>
              <a:t>实现完整的业务闭环，涵盖用户管理、会员订阅体系、额度控制与历史对话记录查询等功能。</a:t>
            </a:r>
            <a:endParaRPr lang="en-US" sz="1100"/>
          </a:p>
        </p:txBody>
      </p:sp>
      <p:sp>
        <p:nvSpPr>
          <p:cNvPr name="AutoShape 16" id="16"/>
          <p:cNvSpPr/>
          <p:nvPr/>
        </p:nvSpPr>
        <p:spPr>
          <a:xfrm rot="0" flipH="false" flipV="false">
            <a:off x="8128000" y="2794000"/>
            <a:ext cx="3302000" cy="3048000"/>
          </a:xfrm>
          <a:prstGeom prst="roundRect">
            <a:avLst>
              <a:gd name="adj" fmla="val 5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144000" y="3048000"/>
            <a:ext cx="1270000" cy="1270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398000" y="3302000"/>
            <a:ext cx="762000" cy="762000"/>
          </a:xfrm>
          <a:prstGeom prst="rect">
            <a:avLst/>
          </a:prstGeom>
        </p:spPr>
      </p:pic>
      <p:sp>
        <p:nvSpPr>
          <p:cNvPr name="AutoShape 19" id="19"/>
          <p:cNvSpPr/>
          <p:nvPr/>
        </p:nvSpPr>
        <p:spPr>
          <a:xfrm rot="0" flipH="false" flipV="false">
            <a:off x="8382000" y="4445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F2937"/>
                </a:solidFill>
                <a:latin typeface="Noto Sans SC"/>
                <a:ea typeface="Noto Sans SC"/>
                <a:cs typeface="Noto Sans SC"/>
                <a:sym typeface="Noto Sans SC"/>
              </a:rPr>
              <a:t>技术目标 · Tech</a:t>
            </a:r>
            <a:endParaRPr lang="en-US" sz="1100"/>
          </a:p>
        </p:txBody>
      </p:sp>
      <p:sp>
        <p:nvSpPr>
          <p:cNvPr name="AutoShape 20" id="20"/>
          <p:cNvSpPr/>
          <p:nvPr/>
        </p:nvSpPr>
        <p:spPr>
          <a:xfrm rot="0" flipH="false" flipV="false">
            <a:off x="8382000" y="4953000"/>
            <a:ext cx="2794000" cy="762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100">
                <a:solidFill>
                  <a:srgbClr val="6B7280"/>
                </a:solidFill>
                <a:latin typeface="Noto Sans SC"/>
                <a:ea typeface="Noto Sans SC"/>
                <a:cs typeface="Noto Sans SC"/>
                <a:sym typeface="Noto Sans SC"/>
              </a:rPr>
              <a:t>基于Spring Boot构建高内聚、低耦合的企业级架构，保证代码的可维护性，为未来功能迭代奠定坚实基础。</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01 项目背景与目标</a:t>
            </a:r>
            <a:endParaRPr lang="en-US" sz="1100"/>
          </a:p>
        </p:txBody>
      </p:sp>
      <p:sp>
        <p:nvSpPr>
          <p:cNvPr name="AutoShape 4" id="4"/>
          <p:cNvSpPr/>
          <p:nvPr/>
        </p:nvSpPr>
        <p:spPr>
          <a:xfrm rot="0" flipH="false" flipV="false">
            <a:off x="762000" y="12065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0B981"/>
                </a:solidFill>
                <a:latin typeface="Noto Sans SC"/>
                <a:ea typeface="Noto Sans SC"/>
                <a:cs typeface="Noto Sans SC"/>
                <a:sym typeface="Noto Sans SC"/>
              </a:rPr>
              <a:t>项目价值：赋能每一位创作者</a:t>
            </a:r>
            <a:endParaRPr lang="en-US" sz="1100"/>
          </a:p>
        </p:txBody>
      </p:sp>
      <p:sp>
        <p:nvSpPr>
          <p:cNvPr name="AutoShape 5" id="5"/>
          <p:cNvSpPr/>
          <p:nvPr/>
        </p:nvSpPr>
        <p:spPr>
          <a:xfrm rot="0" flipH="false" flipV="false">
            <a:off x="762000" y="1905000"/>
            <a:ext cx="5207000" cy="1778000"/>
          </a:xfrm>
          <a:prstGeom prst="roundRect">
            <a:avLst>
              <a:gd name="adj" fmla="val 8571"/>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05000"/>
            <a:ext cx="76200" cy="1778000"/>
          </a:xfrm>
          <a:prstGeom prst="roundRect">
            <a:avLst>
              <a:gd name="adj" fmla="val 20000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92200" y="2286000"/>
            <a:ext cx="1016000" cy="1016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346200" y="2540000"/>
            <a:ext cx="508000" cy="508000"/>
          </a:xfrm>
          <a:prstGeom prst="rect">
            <a:avLst/>
          </a:prstGeom>
        </p:spPr>
      </p:pic>
      <p:sp>
        <p:nvSpPr>
          <p:cNvPr name="AutoShape 9" id="9"/>
          <p:cNvSpPr/>
          <p:nvPr/>
        </p:nvSpPr>
        <p:spPr>
          <a:xfrm rot="0" flipH="false" flipV="false">
            <a:off x="2286000" y="2095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提升创作效率</a:t>
            </a:r>
            <a:endParaRPr lang="en-US" sz="1100"/>
          </a:p>
        </p:txBody>
      </p:sp>
      <p:sp>
        <p:nvSpPr>
          <p:cNvPr name="AutoShape 10" id="10"/>
          <p:cNvSpPr/>
          <p:nvPr/>
        </p:nvSpPr>
        <p:spPr>
          <a:xfrm rot="0" flipH="false" flipV="false">
            <a:off x="2286000" y="2540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用户只需输入简单需求，数秒内即可获得高质量文案初稿，将创作者从繁琐的基础写作工作中彻底解放。</a:t>
            </a:r>
            <a:endParaRPr lang="en-US" sz="1100"/>
          </a:p>
        </p:txBody>
      </p:sp>
      <p:sp>
        <p:nvSpPr>
          <p:cNvPr name="AutoShape 11" id="11"/>
          <p:cNvSpPr/>
          <p:nvPr/>
        </p:nvSpPr>
        <p:spPr>
          <a:xfrm rot="0" flipH="false" flipV="false">
            <a:off x="6223000" y="1905000"/>
            <a:ext cx="5207000" cy="1778000"/>
          </a:xfrm>
          <a:prstGeom prst="roundRect">
            <a:avLst>
              <a:gd name="adj" fmla="val 8571"/>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223000" y="1905000"/>
            <a:ext cx="76200" cy="1778000"/>
          </a:xfrm>
          <a:prstGeom prst="roundRect">
            <a:avLst>
              <a:gd name="adj" fmla="val 20000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553200" y="2286000"/>
            <a:ext cx="1016000" cy="1016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807200" y="2540000"/>
            <a:ext cx="508000" cy="508000"/>
          </a:xfrm>
          <a:prstGeom prst="rect">
            <a:avLst/>
          </a:prstGeom>
        </p:spPr>
      </p:pic>
      <p:sp>
        <p:nvSpPr>
          <p:cNvPr name="AutoShape 15" id="15"/>
          <p:cNvSpPr/>
          <p:nvPr/>
        </p:nvSpPr>
        <p:spPr>
          <a:xfrm rot="0" flipH="false" flipV="false">
            <a:off x="7747000" y="2095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激发创意灵感</a:t>
            </a:r>
            <a:endParaRPr lang="en-US" sz="1100"/>
          </a:p>
        </p:txBody>
      </p:sp>
      <p:sp>
        <p:nvSpPr>
          <p:cNvPr name="AutoShape 16" id="16"/>
          <p:cNvSpPr/>
          <p:nvPr/>
        </p:nvSpPr>
        <p:spPr>
          <a:xfrm rot="0" flipH="false" flipV="false">
            <a:off x="7747000" y="2540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AI能提供多样化、新颖的表达角度和叙事方式，帮助创作者打破固有思维定式，探索更多未曾设想的创意方向。</a:t>
            </a:r>
            <a:endParaRPr lang="en-US" sz="1100"/>
          </a:p>
        </p:txBody>
      </p:sp>
      <p:sp>
        <p:nvSpPr>
          <p:cNvPr name="AutoShape 17" id="17"/>
          <p:cNvSpPr/>
          <p:nvPr/>
        </p:nvSpPr>
        <p:spPr>
          <a:xfrm rot="0" flipH="false" flipV="false">
            <a:off x="762000" y="3937000"/>
            <a:ext cx="5207000" cy="1778000"/>
          </a:xfrm>
          <a:prstGeom prst="roundRect">
            <a:avLst>
              <a:gd name="adj" fmla="val 8571"/>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3937000"/>
            <a:ext cx="76200" cy="1778000"/>
          </a:xfrm>
          <a:prstGeom prst="roundRect">
            <a:avLst>
              <a:gd name="adj" fmla="val 20000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92200" y="4318000"/>
            <a:ext cx="1016000" cy="1016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346200" y="4572000"/>
            <a:ext cx="508000" cy="508000"/>
          </a:xfrm>
          <a:prstGeom prst="rect">
            <a:avLst/>
          </a:prstGeom>
        </p:spPr>
      </p:pic>
      <p:sp>
        <p:nvSpPr>
          <p:cNvPr name="AutoShape 21" id="21"/>
          <p:cNvSpPr/>
          <p:nvPr/>
        </p:nvSpPr>
        <p:spPr>
          <a:xfrm rot="0" flipH="false" flipV="false">
            <a:off x="2286000" y="4127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降低创作成本</a:t>
            </a:r>
            <a:endParaRPr lang="en-US" sz="1100"/>
          </a:p>
        </p:txBody>
      </p:sp>
      <p:sp>
        <p:nvSpPr>
          <p:cNvPr name="AutoShape 22" id="22"/>
          <p:cNvSpPr/>
          <p:nvPr/>
        </p:nvSpPr>
        <p:spPr>
          <a:xfrm rot="0" flipH="false" flipV="false">
            <a:off x="2286000" y="4572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通过自动化生成能力，大幅减少对专业文案人员的依赖，显著降低项目投入的时间成本和直接经济成本。</a:t>
            </a:r>
            <a:endParaRPr lang="en-US" sz="1100"/>
          </a:p>
        </p:txBody>
      </p:sp>
      <p:sp>
        <p:nvSpPr>
          <p:cNvPr name="AutoShape 23" id="23"/>
          <p:cNvSpPr/>
          <p:nvPr/>
        </p:nvSpPr>
        <p:spPr>
          <a:xfrm rot="0" flipH="false" flipV="false">
            <a:off x="6223000" y="3937000"/>
            <a:ext cx="5207000" cy="1778000"/>
          </a:xfrm>
          <a:prstGeom prst="roundRect">
            <a:avLst>
              <a:gd name="adj" fmla="val 8571"/>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223000" y="3937000"/>
            <a:ext cx="76200" cy="1778000"/>
          </a:xfrm>
          <a:prstGeom prst="roundRect">
            <a:avLst>
              <a:gd name="adj" fmla="val 20000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553200" y="4318000"/>
            <a:ext cx="1016000" cy="1016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807200" y="4572000"/>
            <a:ext cx="508000" cy="508000"/>
          </a:xfrm>
          <a:prstGeom prst="rect">
            <a:avLst/>
          </a:prstGeom>
        </p:spPr>
      </p:pic>
      <p:sp>
        <p:nvSpPr>
          <p:cNvPr name="AutoShape 27" id="27"/>
          <p:cNvSpPr/>
          <p:nvPr/>
        </p:nvSpPr>
        <p:spPr>
          <a:xfrm rot="0" flipH="false" flipV="false">
            <a:off x="7747000" y="4127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保证内容质量</a:t>
            </a:r>
            <a:endParaRPr lang="en-US" sz="1100"/>
          </a:p>
        </p:txBody>
      </p:sp>
      <p:sp>
        <p:nvSpPr>
          <p:cNvPr name="AutoShape 28" id="28"/>
          <p:cNvSpPr/>
          <p:nvPr/>
        </p:nvSpPr>
        <p:spPr>
          <a:xfrm rot="0" flipH="false" flipV="false">
            <a:off x="7747000" y="4572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基于先进的大语言模型，生成的文案在语法准确性、逻辑结构严密性和整体可读性上均有可靠的质量保障。</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02 技术架构</a:t>
            </a:r>
            <a:endParaRPr lang="en-US" sz="1100"/>
          </a:p>
        </p:txBody>
      </p:sp>
      <p:sp>
        <p:nvSpPr>
          <p:cNvPr name="AutoShape 4" id="4"/>
          <p:cNvSpPr/>
          <p:nvPr/>
        </p:nvSpPr>
        <p:spPr>
          <a:xfrm rot="0" flipH="false" flipV="false">
            <a:off x="762000" y="1270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AI-ToolBox 采用前后端分离的现代化架构设计，将系统解耦为前端、后端与数据存储三层，有效确保了系统的灵活性、可扩展性与长期的可维护性。</a:t>
            </a:r>
            <a:endParaRPr lang="en-US" sz="1100"/>
          </a:p>
        </p:txBody>
      </p:sp>
      <p:sp>
        <p:nvSpPr>
          <p:cNvPr name="AutoShape 5" id="5"/>
          <p:cNvSpPr/>
          <p:nvPr/>
        </p:nvSpPr>
        <p:spPr>
          <a:xfrm rot="0" flipH="false" flipV="false">
            <a:off x="762000" y="2286000"/>
            <a:ext cx="3302000" cy="3302000"/>
          </a:xfrm>
          <a:prstGeom prst="roundRect">
            <a:avLst>
              <a:gd name="adj" fmla="val 4615"/>
            </a:avLst>
          </a:prstGeom>
          <a:solidFill>
            <a:srgbClr val="FFFFFF">
              <a:alpha val="100000"/>
            </a:srgbClr>
          </a:solidFill>
          <a:ln w="25400" cmpd="sng" cap="flat">
            <a:noFill/>
            <a:prstDash val="solid"/>
            <a:round/>
          </a:ln>
          <a:effectLst>
            <a:outerShdw dir="54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667000"/>
            <a:ext cx="711200" cy="711200"/>
          </a:xfrm>
          <a:prstGeom prst="rect">
            <a:avLst/>
          </a:prstGeom>
        </p:spPr>
      </p:pic>
      <p:sp>
        <p:nvSpPr>
          <p:cNvPr name="AutoShape 7" id="7"/>
          <p:cNvSpPr/>
          <p:nvPr/>
        </p:nvSpPr>
        <p:spPr>
          <a:xfrm rot="0" flipH="false" flipV="false">
            <a:off x="2032000" y="2730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前端应用层</a:t>
            </a:r>
            <a:endParaRPr lang="en-US" sz="1100"/>
          </a:p>
        </p:txBody>
      </p:sp>
      <p:sp>
        <p:nvSpPr>
          <p:cNvPr name="AutoShape 8" id="8"/>
          <p:cNvSpPr/>
          <p:nvPr/>
        </p:nvSpPr>
        <p:spPr>
          <a:xfrm rot="0" flipH="false" flipV="false">
            <a:off x="2032000" y="31750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10B981"/>
                </a:solidFill>
                <a:latin typeface="Noto Sans SC"/>
                <a:ea typeface="Noto Sans SC"/>
                <a:cs typeface="Noto Sans SC"/>
                <a:sym typeface="Noto Sans SC"/>
              </a:rPr>
              <a:t>Uniapp 跨端框架</a:t>
            </a:r>
            <a:endParaRPr lang="en-US" sz="1100"/>
          </a:p>
        </p:txBody>
      </p:sp>
      <p:sp>
        <p:nvSpPr>
          <p:cNvPr name="AutoShape 9" id="9"/>
          <p:cNvSpPr/>
          <p:nvPr/>
        </p:nvSpPr>
        <p:spPr>
          <a:xfrm rot="0" flipH="false" flipV="false">
            <a:off x="1066800" y="3810000"/>
            <a:ext cx="26924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负责用户交互界面的动态渲染与多端适配，统一处理用户操作请求，并将其转发至后端服务进行处理。</a:t>
            </a:r>
            <a:endParaRPr lang="en-US" sz="1100"/>
          </a:p>
        </p:txBody>
      </p:sp>
      <p:sp>
        <p:nvSpPr>
          <p:cNvPr name="AutoShape 10" id="10"/>
          <p:cNvSpPr/>
          <p:nvPr/>
        </p:nvSpPr>
        <p:spPr>
          <a:xfrm rot="0" flipH="false" flipV="false">
            <a:off x="4445000" y="2286000"/>
            <a:ext cx="3302000" cy="3302000"/>
          </a:xfrm>
          <a:prstGeom prst="roundRect">
            <a:avLst>
              <a:gd name="adj" fmla="val 4615"/>
            </a:avLst>
          </a:prstGeom>
          <a:solidFill>
            <a:srgbClr val="FFFFFF">
              <a:alpha val="100000"/>
            </a:srgbClr>
          </a:solidFill>
          <a:ln w="25400" cmpd="sng" cap="flat">
            <a:noFill/>
            <a:prstDash val="solid"/>
            <a:round/>
          </a:ln>
          <a:effectLst>
            <a:outerShdw dir="54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749800" y="2667000"/>
            <a:ext cx="711200" cy="711200"/>
          </a:xfrm>
          <a:prstGeom prst="rect">
            <a:avLst/>
          </a:prstGeom>
        </p:spPr>
      </p:pic>
      <p:sp>
        <p:nvSpPr>
          <p:cNvPr name="AutoShape 12" id="12"/>
          <p:cNvSpPr/>
          <p:nvPr/>
        </p:nvSpPr>
        <p:spPr>
          <a:xfrm rot="0" flipH="false" flipV="false">
            <a:off x="5715000" y="2730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后端服务层</a:t>
            </a:r>
            <a:endParaRPr lang="en-US" sz="1100"/>
          </a:p>
        </p:txBody>
      </p:sp>
      <p:sp>
        <p:nvSpPr>
          <p:cNvPr name="AutoShape 13" id="13"/>
          <p:cNvSpPr/>
          <p:nvPr/>
        </p:nvSpPr>
        <p:spPr>
          <a:xfrm rot="0" flipH="false" flipV="false">
            <a:off x="5715000" y="31750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10B981"/>
                </a:solidFill>
                <a:latin typeface="Noto Sans SC"/>
                <a:ea typeface="Noto Sans SC"/>
                <a:cs typeface="Noto Sans SC"/>
                <a:sym typeface="Noto Sans SC"/>
              </a:rPr>
              <a:t>Spring Boot 核心引擎</a:t>
            </a:r>
            <a:endParaRPr lang="en-US" sz="1100"/>
          </a:p>
        </p:txBody>
      </p:sp>
      <p:sp>
        <p:nvSpPr>
          <p:cNvPr name="AutoShape 14" id="14"/>
          <p:cNvSpPr/>
          <p:nvPr/>
        </p:nvSpPr>
        <p:spPr>
          <a:xfrm rot="0" flipH="false" flipV="false">
            <a:off x="4749800" y="3810000"/>
            <a:ext cx="26924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作为系统的核心中枢，承载所有核心业务逻辑、复杂计算任务，以及对 AI 能力的调度和数据的流转处理。</a:t>
            </a:r>
            <a:endParaRPr lang="en-US" sz="1100"/>
          </a:p>
        </p:txBody>
      </p:sp>
      <p:sp>
        <p:nvSpPr>
          <p:cNvPr name="AutoShape 15" id="15"/>
          <p:cNvSpPr/>
          <p:nvPr/>
        </p:nvSpPr>
        <p:spPr>
          <a:xfrm rot="0" flipH="false" flipV="false">
            <a:off x="8128000" y="2286000"/>
            <a:ext cx="3302000" cy="3302000"/>
          </a:xfrm>
          <a:prstGeom prst="roundRect">
            <a:avLst>
              <a:gd name="adj" fmla="val 4615"/>
            </a:avLst>
          </a:prstGeom>
          <a:solidFill>
            <a:srgbClr val="FFFFFF">
              <a:alpha val="100000"/>
            </a:srgbClr>
          </a:solidFill>
          <a:ln w="25400" cmpd="sng" cap="flat">
            <a:noFill/>
            <a:prstDash val="solid"/>
            <a:round/>
          </a:ln>
          <a:effectLst>
            <a:outerShdw dir="54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432800" y="2667000"/>
            <a:ext cx="711200" cy="711200"/>
          </a:xfrm>
          <a:prstGeom prst="rect">
            <a:avLst/>
          </a:prstGeom>
        </p:spPr>
      </p:pic>
      <p:sp>
        <p:nvSpPr>
          <p:cNvPr name="AutoShape 17" id="17"/>
          <p:cNvSpPr/>
          <p:nvPr/>
        </p:nvSpPr>
        <p:spPr>
          <a:xfrm rot="0" flipH="false" flipV="false">
            <a:off x="9398000" y="2730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数据存储层</a:t>
            </a:r>
            <a:endParaRPr lang="en-US" sz="1100"/>
          </a:p>
        </p:txBody>
      </p:sp>
      <p:sp>
        <p:nvSpPr>
          <p:cNvPr name="AutoShape 18" id="18"/>
          <p:cNvSpPr/>
          <p:nvPr/>
        </p:nvSpPr>
        <p:spPr>
          <a:xfrm rot="0" flipH="false" flipV="false">
            <a:off x="9398000" y="31750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10B981"/>
                </a:solidFill>
                <a:latin typeface="Noto Sans SC"/>
                <a:ea typeface="Noto Sans SC"/>
                <a:cs typeface="Noto Sans SC"/>
                <a:sym typeface="Noto Sans SC"/>
              </a:rPr>
              <a:t>MySQL + Redis 双存储</a:t>
            </a:r>
            <a:endParaRPr lang="en-US" sz="1100"/>
          </a:p>
        </p:txBody>
      </p:sp>
      <p:sp>
        <p:nvSpPr>
          <p:cNvPr name="AutoShape 19" id="19"/>
          <p:cNvSpPr/>
          <p:nvPr/>
        </p:nvSpPr>
        <p:spPr>
          <a:xfrm rot="0" flipH="false" flipV="false">
            <a:off x="8432800" y="3810000"/>
            <a:ext cx="26924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采用关系型数据库 MySQL 进行业务数据持久化，配合内存数据库 Redis 提供高性能的热点数据缓存服务。</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02 技术架构</a:t>
            </a:r>
            <a:endParaRPr lang="en-US" sz="1100"/>
          </a:p>
        </p:txBody>
      </p:sp>
      <p:sp>
        <p:nvSpPr>
          <p:cNvPr name="AutoShape 4" id="4"/>
          <p:cNvSpPr/>
          <p:nvPr/>
        </p:nvSpPr>
        <p:spPr>
          <a:xfrm rot="0" flipH="false" flipV="false">
            <a:off x="762000" y="1397000"/>
            <a:ext cx="3556000" cy="4826000"/>
          </a:xfrm>
          <a:prstGeom prst="roundRect">
            <a:avLst>
              <a:gd name="adj" fmla="val 5714"/>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78000"/>
            <a:ext cx="3048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 spc="200">
                <a:solidFill>
                  <a:srgbClr val="10B981"/>
                </a:solidFill>
                <a:latin typeface="Noto Sans SC"/>
                <a:ea typeface="Noto Sans SC"/>
                <a:cs typeface="Noto Sans SC"/>
                <a:sym typeface="Noto Sans SC"/>
              </a:rPr>
              <a:t>TECH STACK</a:t>
            </a:r>
            <a:endParaRPr lang="en-US" sz="1100"/>
          </a:p>
        </p:txBody>
      </p:sp>
      <p:sp>
        <p:nvSpPr>
          <p:cNvPr name="AutoShape 6" id="6"/>
          <p:cNvSpPr/>
          <p:nvPr/>
        </p:nvSpPr>
        <p:spPr>
          <a:xfrm rot="0" flipH="false" flipV="false">
            <a:off x="1016000" y="2159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1F2937"/>
                </a:solidFill>
                <a:latin typeface="Noto Sans SC"/>
                <a:ea typeface="Noto Sans SC"/>
                <a:cs typeface="Noto Sans SC"/>
                <a:sym typeface="Noto Sans SC"/>
              </a:rPr>
              <a:t>前端核心框架</a:t>
            </a:r>
            <a:endParaRPr lang="en-US" sz="1100"/>
          </a:p>
        </p:txBody>
      </p:sp>
      <p:pic>
        <p:nvPicPr>
          <p:cNvPr name="Picture 7" id="7"/>
          <p:cNvPicPr>
            <a:picLocks noChangeAspect="true"/>
          </p:cNvPicPr>
          <p:nvPr/>
        </p:nvPicPr>
        <p:blipFill>
          <a:blip r:embed="rId3"/>
          <a:srcRect l="3278" r="3278" t="0" b="0"/>
          <a:stretch>
            <a:fillRect/>
          </a:stretch>
        </p:blipFill>
        <p:spPr>
          <a:xfrm rot="0" flipH="false" flipV="false">
            <a:off x="1143000" y="2794000"/>
            <a:ext cx="2794000" cy="2286000"/>
          </a:xfrm>
          <a:prstGeom prst="roundRect">
            <a:avLst>
              <a:gd name="adj" fmla="val 6666"/>
            </a:avLst>
          </a:prstGeom>
          <a:noFill/>
          <a:ln w="25400" cmpd="sng" cap="flat">
            <a:noFill/>
            <a:prstDash val="solid"/>
            <a:round/>
          </a:ln>
        </p:spPr>
      </p:pic>
      <p:sp>
        <p:nvSpPr>
          <p:cNvPr name="AutoShape 8" id="8"/>
          <p:cNvSpPr/>
          <p:nvPr/>
        </p:nvSpPr>
        <p:spPr>
          <a:xfrm rot="0" flipH="false" flipV="false">
            <a:off x="1016000" y="5334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300">
                <a:solidFill>
                  <a:srgbClr val="6B7280"/>
                </a:solidFill>
                <a:latin typeface="Noto Sans SC"/>
                <a:ea typeface="Noto Sans SC"/>
                <a:cs typeface="Noto Sans SC"/>
                <a:sym typeface="Noto Sans SC"/>
              </a:rPr>
              <a:t>Uniapp 跨平台应用开发</a:t>
            </a:r>
            <a:r>
              <a:rPr lang="en-US" b="false" i="false" strike="noStrike" u="none" sz="1300">
                <a:solidFill>
                  <a:srgbClr val="6B7280"/>
                </a:solidFill>
                <a:latin typeface="Noto Sans SC"/>
                <a:ea typeface="Noto Sans SC"/>
                <a:cs typeface="Noto Sans SC"/>
                <a:sym typeface="Noto Sans SC"/>
              </a:rPr>
              <a:t/>
            </a:r>
            <a:br>
              <a:rPr lang="en-US" b="false" i="false" strike="noStrike" u="none" sz="1300">
                <a:solidFill>
                  <a:srgbClr val="6B7280"/>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高效 · 灵活 · 原生体验</a:t>
            </a:r>
            <a:endParaRPr lang="en-US" sz="1100"/>
          </a:p>
        </p:txBody>
      </p:sp>
      <p:sp>
        <p:nvSpPr>
          <p:cNvPr name="AutoShape 9" id="9"/>
          <p:cNvSpPr/>
          <p:nvPr/>
        </p:nvSpPr>
        <p:spPr>
          <a:xfrm rot="0" flipH="false" flipV="false">
            <a:off x="4572000" y="1397000"/>
            <a:ext cx="6858000" cy="1397000"/>
          </a:xfrm>
          <a:prstGeom prst="roundRect">
            <a:avLst>
              <a:gd name="adj" fmla="val 10909"/>
            </a:avLst>
          </a:prstGeom>
          <a:solidFill>
            <a:srgbClr val="FFFFFF">
              <a:alpha val="100000"/>
            </a:srgbClr>
          </a:solidFill>
          <a:ln w="25400" cmpd="sng" cap="flat">
            <a:noFill/>
            <a:prstDash val="solid"/>
            <a:round/>
          </a:ln>
          <a:effectLst>
            <a:outerShdw dir="2700000" dist="25400" blurRad="127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826000" y="1651000"/>
            <a:ext cx="889000" cy="889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067300" y="1892300"/>
            <a:ext cx="406400" cy="406400"/>
          </a:xfrm>
          <a:prstGeom prst="rect">
            <a:avLst/>
          </a:prstGeom>
        </p:spPr>
      </p:pic>
      <p:sp>
        <p:nvSpPr>
          <p:cNvPr name="AutoShape 12" id="12"/>
          <p:cNvSpPr/>
          <p:nvPr/>
        </p:nvSpPr>
        <p:spPr>
          <a:xfrm rot="0" flipH="false" flipV="false">
            <a:off x="5969000" y="1651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一套代码，多端覆盖</a:t>
            </a:r>
            <a:endParaRPr lang="en-US" sz="1100"/>
          </a:p>
        </p:txBody>
      </p:sp>
      <p:sp>
        <p:nvSpPr>
          <p:cNvPr name="AutoShape 13" id="13"/>
          <p:cNvSpPr/>
          <p:nvPr/>
        </p:nvSpPr>
        <p:spPr>
          <a:xfrm rot="0" flipH="false" flipV="false">
            <a:off x="5969000" y="2095500"/>
            <a:ext cx="508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可同时编译为 iOS、Android、H5、微信小程序等多个平台，极大地降低了多端应用的开发与长期维护成本。</a:t>
            </a:r>
            <a:endParaRPr lang="en-US" sz="1100"/>
          </a:p>
        </p:txBody>
      </p:sp>
      <p:sp>
        <p:nvSpPr>
          <p:cNvPr name="AutoShape 14" id="14"/>
          <p:cNvSpPr/>
          <p:nvPr/>
        </p:nvSpPr>
        <p:spPr>
          <a:xfrm rot="0" flipH="false" flipV="false">
            <a:off x="4572000" y="3048000"/>
            <a:ext cx="6858000" cy="1397000"/>
          </a:xfrm>
          <a:prstGeom prst="roundRect">
            <a:avLst>
              <a:gd name="adj" fmla="val 10909"/>
            </a:avLst>
          </a:prstGeom>
          <a:solidFill>
            <a:srgbClr val="FFFFFF">
              <a:alpha val="100000"/>
            </a:srgbClr>
          </a:solidFill>
          <a:ln w="25400" cmpd="sng" cap="flat">
            <a:noFill/>
            <a:prstDash val="solid"/>
            <a:round/>
          </a:ln>
          <a:effectLst>
            <a:outerShdw dir="2700000" dist="25400" blurRad="127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826000" y="3302000"/>
            <a:ext cx="889000" cy="889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067300" y="3543300"/>
            <a:ext cx="406400" cy="406400"/>
          </a:xfrm>
          <a:prstGeom prst="rect">
            <a:avLst/>
          </a:prstGeom>
        </p:spPr>
      </p:pic>
      <p:sp>
        <p:nvSpPr>
          <p:cNvPr name="AutoShape 17" id="17"/>
          <p:cNvSpPr/>
          <p:nvPr/>
        </p:nvSpPr>
        <p:spPr>
          <a:xfrm rot="0" flipH="false" flipV="false">
            <a:off x="5969000" y="3302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基于 Vue.js 成熟生态</a:t>
            </a:r>
            <a:endParaRPr lang="en-US" sz="1100"/>
          </a:p>
        </p:txBody>
      </p:sp>
      <p:sp>
        <p:nvSpPr>
          <p:cNvPr name="AutoShape 18" id="18"/>
          <p:cNvSpPr/>
          <p:nvPr/>
        </p:nvSpPr>
        <p:spPr>
          <a:xfrm rot="0" flipH="false" flipV="false">
            <a:off x="5969000" y="3746500"/>
            <a:ext cx="508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沿用 Vue.js 的语法规范，拥有海量成熟的组件库支持，开发人员上手快，能够显著提升业务功能的开发效率。</a:t>
            </a:r>
            <a:endParaRPr lang="en-US" sz="1100"/>
          </a:p>
        </p:txBody>
      </p:sp>
      <p:sp>
        <p:nvSpPr>
          <p:cNvPr name="AutoShape 19" id="19"/>
          <p:cNvSpPr/>
          <p:nvPr/>
        </p:nvSpPr>
        <p:spPr>
          <a:xfrm rot="0" flipH="false" flipV="false">
            <a:off x="4572000" y="4699000"/>
            <a:ext cx="6858000" cy="1397000"/>
          </a:xfrm>
          <a:prstGeom prst="roundRect">
            <a:avLst>
              <a:gd name="adj" fmla="val 10909"/>
            </a:avLst>
          </a:prstGeom>
          <a:solidFill>
            <a:srgbClr val="FFFFFF">
              <a:alpha val="100000"/>
            </a:srgbClr>
          </a:solidFill>
          <a:ln w="25400" cmpd="sng" cap="flat">
            <a:noFill/>
            <a:prstDash val="solid"/>
            <a:round/>
          </a:ln>
          <a:effectLst>
            <a:outerShdw dir="2700000" dist="25400" blurRad="127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4826000" y="4953000"/>
            <a:ext cx="889000" cy="889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067300" y="5194300"/>
            <a:ext cx="406400" cy="406400"/>
          </a:xfrm>
          <a:prstGeom prst="rect">
            <a:avLst/>
          </a:prstGeom>
        </p:spPr>
      </p:pic>
      <p:sp>
        <p:nvSpPr>
          <p:cNvPr name="AutoShape 22" id="22"/>
          <p:cNvSpPr/>
          <p:nvPr/>
        </p:nvSpPr>
        <p:spPr>
          <a:xfrm rot="0" flipH="false" flipV="false">
            <a:off x="5969000" y="4953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Weex 渲染，原生流畅</a:t>
            </a:r>
            <a:endParaRPr lang="en-US" sz="1100"/>
          </a:p>
        </p:txBody>
      </p:sp>
      <p:sp>
        <p:nvSpPr>
          <p:cNvPr name="AutoShape 23" id="23"/>
          <p:cNvSpPr/>
          <p:nvPr/>
        </p:nvSpPr>
        <p:spPr>
          <a:xfrm rot="0" flipH="false" flipV="false">
            <a:off x="5969000" y="5397500"/>
            <a:ext cx="508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底层集成 Weex 渲染引擎，将 Vue 组件编译为原生渲染指令，提供接近原生 App 的流畅滑动与交互体验。</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02 技术架构</a:t>
            </a:r>
            <a:endParaRPr lang="en-US" sz="1100"/>
          </a:p>
        </p:txBody>
      </p:sp>
      <p:sp>
        <p:nvSpPr>
          <p:cNvPr name="AutoShape 4" id="4"/>
          <p:cNvSpPr/>
          <p:nvPr/>
        </p:nvSpPr>
        <p:spPr>
          <a:xfrm rot="0" flipH="false" flipV="false">
            <a:off x="762000" y="1397000"/>
            <a:ext cx="3556000" cy="4826000"/>
          </a:xfrm>
          <a:prstGeom prst="roundRect">
            <a:avLst>
              <a:gd name="adj" fmla="val 5714"/>
            </a:avLst>
          </a:prstGeom>
          <a:solidFill>
            <a:srgbClr val="FFFFFF">
              <a:alpha val="95000"/>
            </a:srgbClr>
          </a:solidFill>
          <a:ln w="25400" cmpd="sng" cap="flat">
            <a:noFill/>
            <a:prstDash val="solid"/>
            <a:round/>
          </a:ln>
          <a:effectLst>
            <a:outerShdw dir="2700000" dist="63500" blurRad="254000" algn="tl" rotWithShape="false">
              <a:srgbClr val="1F2937">
                <a:alpha val="10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296" b="296"/>
          <a:stretch>
            <a:fillRect/>
          </a:stretch>
        </p:blipFill>
        <p:spPr>
          <a:xfrm rot="0" flipH="false" flipV="false">
            <a:off x="1016000" y="1778000"/>
            <a:ext cx="3048000" cy="2540000"/>
          </a:xfrm>
          <a:prstGeom prst="rect">
            <a:avLst/>
          </a:prstGeom>
          <a:noFill/>
          <a:ln w="25400" cmpd="sng" cap="flat">
            <a:noFill/>
            <a:prstDash val="solid"/>
            <a:round/>
          </a:ln>
        </p:spPr>
      </p:pic>
      <p:sp>
        <p:nvSpPr>
          <p:cNvPr name="AutoShape 6" id="6"/>
          <p:cNvSpPr/>
          <p:nvPr/>
        </p:nvSpPr>
        <p:spPr>
          <a:xfrm rot="0" flipH="false" flipV="false">
            <a:off x="1016000" y="4572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6B7280"/>
                </a:solidFill>
                <a:latin typeface="Noto Sans SC"/>
                <a:ea typeface="Noto Sans SC"/>
                <a:cs typeface="Noto Sans SC"/>
                <a:sym typeface="Noto Sans SC"/>
              </a:rPr>
              <a:t>后端核心框架</a:t>
            </a:r>
            <a:endParaRPr lang="en-US" sz="1100"/>
          </a:p>
        </p:txBody>
      </p:sp>
      <p:sp>
        <p:nvSpPr>
          <p:cNvPr name="AutoShape 7" id="7"/>
          <p:cNvSpPr/>
          <p:nvPr/>
        </p:nvSpPr>
        <p:spPr>
          <a:xfrm rot="0" flipH="false" flipV="false">
            <a:off x="1016000" y="5080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10B981"/>
                </a:solidFill>
                <a:latin typeface="Noto Sans SC"/>
                <a:ea typeface="Noto Sans SC"/>
                <a:cs typeface="Noto Sans SC"/>
                <a:sym typeface="Noto Sans SC"/>
              </a:rPr>
              <a:t>Spring Boot 3.2.5</a:t>
            </a:r>
            <a:endParaRPr lang="en-US" sz="1100"/>
          </a:p>
        </p:txBody>
      </p:sp>
      <p:sp>
        <p:nvSpPr>
          <p:cNvPr name="AutoShape 8" id="8"/>
          <p:cNvSpPr/>
          <p:nvPr/>
        </p:nvSpPr>
        <p:spPr>
          <a:xfrm rot="0" flipH="false" flipV="false">
            <a:off x="1016000" y="5715000"/>
            <a:ext cx="3048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CA3AF"/>
                </a:solidFill>
                <a:latin typeface="Noto Sans SC"/>
                <a:ea typeface="Noto Sans SC"/>
                <a:cs typeface="Noto Sans SC"/>
                <a:sym typeface="Noto Sans SC"/>
              </a:rPr>
              <a:t>约定优于配置 · 微服务首选</a:t>
            </a:r>
            <a:endParaRPr lang="en-US" sz="1100"/>
          </a:p>
        </p:txBody>
      </p:sp>
      <p:sp>
        <p:nvSpPr>
          <p:cNvPr name="AutoShape 9" id="9"/>
          <p:cNvSpPr/>
          <p:nvPr/>
        </p:nvSpPr>
        <p:spPr>
          <a:xfrm rot="0" flipH="false" flipV="false">
            <a:off x="4572000" y="1397000"/>
            <a:ext cx="3429000" cy="2286000"/>
          </a:xfrm>
          <a:prstGeom prst="roundRect">
            <a:avLst>
              <a:gd name="adj" fmla="val 6666"/>
            </a:avLst>
          </a:prstGeom>
          <a:solidFill>
            <a:srgbClr val="FFFFFF">
              <a:alpha val="95000"/>
            </a:srgbClr>
          </a:solidFill>
          <a:ln w="25400" cmpd="sng" cap="flat">
            <a:noFill/>
            <a:prstDash val="solid"/>
            <a:round/>
          </a:ln>
          <a:effectLst>
            <a:outerShdw dir="27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826000" y="1651000"/>
            <a:ext cx="609600" cy="609600"/>
          </a:xfrm>
          <a:prstGeom prst="roundRect">
            <a:avLst>
              <a:gd name="adj" fmla="val 50000"/>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978400" y="1803400"/>
            <a:ext cx="304800" cy="304800"/>
          </a:xfrm>
          <a:prstGeom prst="rect">
            <a:avLst/>
          </a:prstGeom>
        </p:spPr>
      </p:pic>
      <p:sp>
        <p:nvSpPr>
          <p:cNvPr name="AutoShape 12" id="12"/>
          <p:cNvSpPr/>
          <p:nvPr/>
        </p:nvSpPr>
        <p:spPr>
          <a:xfrm rot="0" flipH="false" flipV="false">
            <a:off x="5651500" y="1714500"/>
            <a:ext cx="215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极速开发体验</a:t>
            </a:r>
            <a:endParaRPr lang="en-US" sz="1100"/>
          </a:p>
        </p:txBody>
      </p:sp>
      <p:sp>
        <p:nvSpPr>
          <p:cNvPr name="AutoShape 13" id="13"/>
          <p:cNvSpPr/>
          <p:nvPr/>
        </p:nvSpPr>
        <p:spPr>
          <a:xfrm rot="0" flipH="false" flipV="false">
            <a:off x="4826000" y="2476500"/>
            <a:ext cx="2921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基于“约定优于配置”理念，提供自动配置机制，极大简化了项目的搭建流程，让开发者更专注于业务逻辑。</a:t>
            </a:r>
            <a:endParaRPr lang="en-US" sz="1100"/>
          </a:p>
        </p:txBody>
      </p:sp>
      <p:sp>
        <p:nvSpPr>
          <p:cNvPr name="AutoShape 14" id="14"/>
          <p:cNvSpPr/>
          <p:nvPr/>
        </p:nvSpPr>
        <p:spPr>
          <a:xfrm rot="0" flipH="false" flipV="false">
            <a:off x="8255000" y="1397000"/>
            <a:ext cx="3429000" cy="2286000"/>
          </a:xfrm>
          <a:prstGeom prst="roundRect">
            <a:avLst>
              <a:gd name="adj" fmla="val 6666"/>
            </a:avLst>
          </a:prstGeom>
          <a:solidFill>
            <a:srgbClr val="FFFFFF">
              <a:alpha val="95000"/>
            </a:srgbClr>
          </a:solidFill>
          <a:ln w="25400" cmpd="sng" cap="flat">
            <a:noFill/>
            <a:prstDash val="solid"/>
            <a:round/>
          </a:ln>
          <a:effectLst>
            <a:outerShdw dir="27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509000" y="1651000"/>
            <a:ext cx="609600" cy="609600"/>
          </a:xfrm>
          <a:prstGeom prst="roundRect">
            <a:avLst>
              <a:gd name="adj" fmla="val 50000"/>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661400" y="1803400"/>
            <a:ext cx="304800" cy="304800"/>
          </a:xfrm>
          <a:prstGeom prst="rect">
            <a:avLst/>
          </a:prstGeom>
        </p:spPr>
      </p:pic>
      <p:sp>
        <p:nvSpPr>
          <p:cNvPr name="AutoShape 17" id="17"/>
          <p:cNvSpPr/>
          <p:nvPr/>
        </p:nvSpPr>
        <p:spPr>
          <a:xfrm rot="0" flipH="false" flipV="false">
            <a:off x="9334500" y="1714500"/>
            <a:ext cx="215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微服务架构基石</a:t>
            </a:r>
            <a:endParaRPr lang="en-US" sz="1100"/>
          </a:p>
        </p:txBody>
      </p:sp>
      <p:sp>
        <p:nvSpPr>
          <p:cNvPr name="AutoShape 18" id="18"/>
          <p:cNvSpPr/>
          <p:nvPr/>
        </p:nvSpPr>
        <p:spPr>
          <a:xfrm rot="0" flipH="false" flipV="false">
            <a:off x="8509000" y="2476500"/>
            <a:ext cx="2921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提供了完善的服务治理与监控能力，为未来系统的横向扩展、服务拆分提供了坚实的底层支撑。</a:t>
            </a:r>
            <a:endParaRPr lang="en-US" sz="1100"/>
          </a:p>
        </p:txBody>
      </p:sp>
      <p:sp>
        <p:nvSpPr>
          <p:cNvPr name="AutoShape 19" id="19"/>
          <p:cNvSpPr/>
          <p:nvPr/>
        </p:nvSpPr>
        <p:spPr>
          <a:xfrm rot="0" flipH="false" flipV="false">
            <a:off x="4572000" y="3937000"/>
            <a:ext cx="3429000" cy="2286000"/>
          </a:xfrm>
          <a:prstGeom prst="roundRect">
            <a:avLst>
              <a:gd name="adj" fmla="val 6666"/>
            </a:avLst>
          </a:prstGeom>
          <a:solidFill>
            <a:srgbClr val="FFFFFF">
              <a:alpha val="95000"/>
            </a:srgbClr>
          </a:solidFill>
          <a:ln w="25400" cmpd="sng" cap="flat">
            <a:noFill/>
            <a:prstDash val="solid"/>
            <a:round/>
          </a:ln>
          <a:effectLst>
            <a:outerShdw dir="27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4826000" y="4191000"/>
            <a:ext cx="609600" cy="609600"/>
          </a:xfrm>
          <a:prstGeom prst="roundRect">
            <a:avLst>
              <a:gd name="adj" fmla="val 50000"/>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4978400" y="4343400"/>
            <a:ext cx="304800" cy="304800"/>
          </a:xfrm>
          <a:prstGeom prst="rect">
            <a:avLst/>
          </a:prstGeom>
        </p:spPr>
      </p:pic>
      <p:sp>
        <p:nvSpPr>
          <p:cNvPr name="AutoShape 22" id="22"/>
          <p:cNvSpPr/>
          <p:nvPr/>
        </p:nvSpPr>
        <p:spPr>
          <a:xfrm rot="0" flipH="false" flipV="false">
            <a:off x="5651500" y="4254500"/>
            <a:ext cx="215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庞大的生态支持</a:t>
            </a:r>
            <a:endParaRPr lang="en-US" sz="1100"/>
          </a:p>
        </p:txBody>
      </p:sp>
      <p:sp>
        <p:nvSpPr>
          <p:cNvPr name="AutoShape 23" id="23"/>
          <p:cNvSpPr/>
          <p:nvPr/>
        </p:nvSpPr>
        <p:spPr>
          <a:xfrm rot="0" flipH="false" flipV="false">
            <a:off x="4826000" y="5016500"/>
            <a:ext cx="2921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拥有活跃的社区和海量第三方库，能轻松集成安全认证、数据访问、消息队列等各类成熟组件。</a:t>
            </a:r>
            <a:endParaRPr lang="en-US" sz="1100"/>
          </a:p>
        </p:txBody>
      </p:sp>
      <p:sp>
        <p:nvSpPr>
          <p:cNvPr name="AutoShape 24" id="24"/>
          <p:cNvSpPr/>
          <p:nvPr/>
        </p:nvSpPr>
        <p:spPr>
          <a:xfrm rot="0" flipH="false" flipV="false">
            <a:off x="8255000" y="3937000"/>
            <a:ext cx="3429000" cy="2286000"/>
          </a:xfrm>
          <a:prstGeom prst="roundRect">
            <a:avLst>
              <a:gd name="adj" fmla="val 6666"/>
            </a:avLst>
          </a:prstGeom>
          <a:solidFill>
            <a:srgbClr val="FFFFFF">
              <a:alpha val="95000"/>
            </a:srgbClr>
          </a:solidFill>
          <a:ln w="25400" cmpd="sng" cap="flat">
            <a:noFill/>
            <a:prstDash val="solid"/>
            <a:round/>
          </a:ln>
          <a:effectLst>
            <a:outerShdw dir="27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509000" y="4191000"/>
            <a:ext cx="609600" cy="609600"/>
          </a:xfrm>
          <a:prstGeom prst="roundRect">
            <a:avLst>
              <a:gd name="adj" fmla="val 50000"/>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661400" y="4343400"/>
            <a:ext cx="304800" cy="304800"/>
          </a:xfrm>
          <a:prstGeom prst="rect">
            <a:avLst/>
          </a:prstGeom>
        </p:spPr>
      </p:pic>
      <p:sp>
        <p:nvSpPr>
          <p:cNvPr name="AutoShape 27" id="27"/>
          <p:cNvSpPr/>
          <p:nvPr/>
        </p:nvSpPr>
        <p:spPr>
          <a:xfrm rot="0" flipH="false" flipV="false">
            <a:off x="9334500" y="4254500"/>
            <a:ext cx="215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卓越的运行性能</a:t>
            </a:r>
            <a:endParaRPr lang="en-US" sz="1100"/>
          </a:p>
        </p:txBody>
      </p:sp>
      <p:sp>
        <p:nvSpPr>
          <p:cNvPr name="AutoShape 28" id="28"/>
          <p:cNvSpPr/>
          <p:nvPr/>
        </p:nvSpPr>
        <p:spPr>
          <a:xfrm rot="0" flipH="false" flipV="false">
            <a:off x="8509000" y="5016500"/>
            <a:ext cx="2921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基于Java 17 LTS版本与最新Spring框架构建，显著降低了内存占用并提升了响应速度，性能表现优异。</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02 技术架构</a:t>
            </a:r>
            <a:endParaRPr lang="en-US" sz="1100"/>
          </a:p>
        </p:txBody>
      </p:sp>
      <p:sp>
        <p:nvSpPr>
          <p:cNvPr name="AutoShape 4" id="4"/>
          <p:cNvSpPr/>
          <p:nvPr/>
        </p:nvSpPr>
        <p:spPr>
          <a:xfrm rot="0" flipH="false" flipV="false">
            <a:off x="762000" y="1397000"/>
            <a:ext cx="4572000" cy="4953000"/>
          </a:xfrm>
          <a:prstGeom prst="roundRect">
            <a:avLst>
              <a:gd name="adj" fmla="val 3333"/>
            </a:avLst>
          </a:prstGeom>
          <a:solidFill>
            <a:srgbClr val="FFFFFF">
              <a:alpha val="100000"/>
            </a:srgbClr>
          </a:solidFill>
          <a:ln w="25400" cmpd="sng" cap="flat">
            <a:noFill/>
            <a:prstDash val="solid"/>
            <a:round/>
          </a:ln>
          <a:effectLst>
            <a:outerShdw dir="2700000" dist="508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5875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0B981"/>
                </a:solidFill>
                <a:latin typeface="Noto Sans SC"/>
                <a:ea typeface="Noto Sans SC"/>
                <a:cs typeface="Noto Sans SC"/>
                <a:sym typeface="Noto Sans SC"/>
              </a:rPr>
              <a:t>数据存储层 (Data Storage)</a:t>
            </a:r>
            <a:endParaRPr lang="en-US" sz="1100"/>
          </a:p>
        </p:txBody>
      </p:sp>
      <p:sp>
        <p:nvSpPr>
          <p:cNvPr name="AutoShape 6" id="6"/>
          <p:cNvSpPr/>
          <p:nvPr/>
        </p:nvSpPr>
        <p:spPr>
          <a:xfrm rot="0" flipH="false" flipV="false">
            <a:off x="1016000" y="2159000"/>
            <a:ext cx="4064000" cy="1651000"/>
          </a:xfrm>
          <a:prstGeom prst="roundRect">
            <a:avLst>
              <a:gd name="adj" fmla="val 6153"/>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srcRect l="0" r="0" t="0" b="0"/>
          <a:stretch>
            <a:fillRect/>
          </a:stretch>
        </p:blipFill>
        <p:spPr>
          <a:xfrm rot="0" flipH="false" flipV="false">
            <a:off x="1206500" y="2349500"/>
            <a:ext cx="1270000" cy="1270000"/>
          </a:xfrm>
          <a:prstGeom prst="ellipse">
            <a:avLst/>
          </a:prstGeom>
          <a:noFill/>
          <a:ln w="25400" cmpd="sng" cap="flat">
            <a:noFill/>
            <a:prstDash val="solid"/>
            <a:round/>
          </a:ln>
        </p:spPr>
      </p:pic>
      <p:sp>
        <p:nvSpPr>
          <p:cNvPr name="AutoShape 8" id="8"/>
          <p:cNvSpPr/>
          <p:nvPr/>
        </p:nvSpPr>
        <p:spPr>
          <a:xfrm rot="0" flipH="false" flipV="false">
            <a:off x="2667000" y="2349500"/>
            <a:ext cx="228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MySQL 数据库</a:t>
            </a:r>
            <a:endParaRPr lang="en-US" sz="1100"/>
          </a:p>
        </p:txBody>
      </p:sp>
      <p:sp>
        <p:nvSpPr>
          <p:cNvPr name="AutoShape 9" id="9"/>
          <p:cNvSpPr/>
          <p:nvPr/>
        </p:nvSpPr>
        <p:spPr>
          <a:xfrm rot="0" flipH="false" flipV="false">
            <a:off x="2667000" y="2730500"/>
            <a:ext cx="2286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100">
                <a:solidFill>
                  <a:srgbClr val="4B5563"/>
                </a:solidFill>
                <a:latin typeface="Noto Sans SC"/>
                <a:ea typeface="Noto Sans SC"/>
                <a:cs typeface="Noto Sans SC"/>
                <a:sym typeface="Noto Sans SC"/>
              </a:rPr>
              <a:t>业界成熟稳定的开源关系型数据库，用于存储用户信息、订单等核心结构化数据。</a:t>
            </a:r>
            <a:endParaRPr lang="en-US" sz="1100"/>
          </a:p>
        </p:txBody>
      </p:sp>
      <p:sp>
        <p:nvSpPr>
          <p:cNvPr name="AutoShape 10" id="10"/>
          <p:cNvSpPr/>
          <p:nvPr/>
        </p:nvSpPr>
        <p:spPr>
          <a:xfrm rot="0" flipH="false" flipV="false">
            <a:off x="1016000" y="4064000"/>
            <a:ext cx="4064000" cy="1651000"/>
          </a:xfrm>
          <a:prstGeom prst="roundRect">
            <a:avLst>
              <a:gd name="adj" fmla="val 6153"/>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srcRect l="0" r="0" t="0" b="0"/>
          <a:stretch>
            <a:fillRect/>
          </a:stretch>
        </p:blipFill>
        <p:spPr>
          <a:xfrm rot="0" flipH="false" flipV="false">
            <a:off x="1206500" y="4254500"/>
            <a:ext cx="1270000" cy="1270000"/>
          </a:xfrm>
          <a:prstGeom prst="ellipse">
            <a:avLst/>
          </a:prstGeom>
          <a:noFill/>
          <a:ln w="25400" cmpd="sng" cap="flat">
            <a:noFill/>
            <a:prstDash val="solid"/>
            <a:round/>
          </a:ln>
        </p:spPr>
      </p:pic>
      <p:sp>
        <p:nvSpPr>
          <p:cNvPr name="AutoShape 12" id="12"/>
          <p:cNvSpPr/>
          <p:nvPr/>
        </p:nvSpPr>
        <p:spPr>
          <a:xfrm rot="0" flipH="false" flipV="false">
            <a:off x="2667000" y="4254500"/>
            <a:ext cx="228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Redis 缓存服务</a:t>
            </a:r>
            <a:endParaRPr lang="en-US" sz="1100"/>
          </a:p>
        </p:txBody>
      </p:sp>
      <p:sp>
        <p:nvSpPr>
          <p:cNvPr name="AutoShape 13" id="13"/>
          <p:cNvSpPr/>
          <p:nvPr/>
        </p:nvSpPr>
        <p:spPr>
          <a:xfrm rot="0" flipH="false" flipV="false">
            <a:off x="2667000" y="4635500"/>
            <a:ext cx="2286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100">
                <a:solidFill>
                  <a:srgbClr val="4B5563"/>
                </a:solidFill>
                <a:latin typeface="Noto Sans SC"/>
                <a:ea typeface="Noto Sans SC"/>
                <a:cs typeface="Noto Sans SC"/>
                <a:sym typeface="Noto Sans SC"/>
              </a:rPr>
              <a:t>高性能内存数据存储，作为缓存层与分布式计数器，显著提升系统并发与响应速度。</a:t>
            </a:r>
            <a:endParaRPr lang="en-US" sz="1100"/>
          </a:p>
        </p:txBody>
      </p:sp>
      <p:sp>
        <p:nvSpPr>
          <p:cNvPr name="AutoShape 14" id="14"/>
          <p:cNvSpPr/>
          <p:nvPr/>
        </p:nvSpPr>
        <p:spPr>
          <a:xfrm rot="0" flipH="false" flipV="false">
            <a:off x="5588000" y="1397000"/>
            <a:ext cx="5842000" cy="4953000"/>
          </a:xfrm>
          <a:prstGeom prst="roundRect">
            <a:avLst>
              <a:gd name="adj" fmla="val 3076"/>
            </a:avLst>
          </a:prstGeom>
          <a:solidFill>
            <a:srgbClr val="FFFFFF">
              <a:alpha val="100000"/>
            </a:srgbClr>
          </a:solidFill>
          <a:ln w="25400" cmpd="sng" cap="flat">
            <a:noFill/>
            <a:prstDash val="solid"/>
            <a:round/>
          </a:ln>
          <a:effectLst>
            <a:outerShdw dir="2700000" dist="508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842000" y="1587500"/>
            <a:ext cx="533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0B981"/>
                </a:solidFill>
                <a:latin typeface="Noto Sans SC"/>
                <a:ea typeface="Noto Sans SC"/>
                <a:cs typeface="Noto Sans SC"/>
                <a:sym typeface="Noto Sans SC"/>
              </a:rPr>
              <a:t>核心技术组件 (Core Components)</a:t>
            </a:r>
            <a:endParaRPr lang="en-US" sz="1100"/>
          </a:p>
        </p:txBody>
      </p:sp>
      <p:sp>
        <p:nvSpPr>
          <p:cNvPr name="AutoShape 16" id="16"/>
          <p:cNvSpPr/>
          <p:nvPr/>
        </p:nvSpPr>
        <p:spPr>
          <a:xfrm rot="0" flipH="false" flipV="false">
            <a:off x="5842000" y="2159000"/>
            <a:ext cx="2540000" cy="1714500"/>
          </a:xfrm>
          <a:prstGeom prst="roundRect">
            <a:avLst>
              <a:gd name="adj" fmla="val 5925"/>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032500" y="2349500"/>
            <a:ext cx="406400" cy="406400"/>
          </a:xfrm>
          <a:prstGeom prst="rect">
            <a:avLst/>
          </a:prstGeom>
        </p:spPr>
      </p:pic>
      <p:sp>
        <p:nvSpPr>
          <p:cNvPr name="AutoShape 18" id="18"/>
          <p:cNvSpPr/>
          <p:nvPr/>
        </p:nvSpPr>
        <p:spPr>
          <a:xfrm rot="0" flipH="false" flipV="false">
            <a:off x="6604000" y="2349500"/>
            <a:ext cx="165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MyBatis Plus</a:t>
            </a:r>
            <a:endParaRPr lang="en-US" sz="1100"/>
          </a:p>
        </p:txBody>
      </p:sp>
      <p:sp>
        <p:nvSpPr>
          <p:cNvPr name="AutoShape 19" id="19"/>
          <p:cNvSpPr/>
          <p:nvPr/>
        </p:nvSpPr>
        <p:spPr>
          <a:xfrm rot="0" flipH="false" flipV="false">
            <a:off x="6032500" y="2921000"/>
            <a:ext cx="2159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0000"/>
              </a:lnSpc>
              <a:defRPr/>
            </a:pPr>
            <a:r>
              <a:rPr lang="en-US" b="false" i="false" strike="noStrike" u="none" sz="1000">
                <a:solidFill>
                  <a:srgbClr val="6B7280"/>
                </a:solidFill>
                <a:latin typeface="Noto Sans SC"/>
                <a:ea typeface="Noto Sans SC"/>
                <a:cs typeface="Noto Sans SC"/>
                <a:sym typeface="Noto Sans SC"/>
              </a:rPr>
              <a:t>增强型ORM框架，简化CRUD操作，减少开发冗余代码。</a:t>
            </a:r>
            <a:endParaRPr lang="en-US" sz="1100"/>
          </a:p>
        </p:txBody>
      </p:sp>
      <p:sp>
        <p:nvSpPr>
          <p:cNvPr name="AutoShape 20" id="20"/>
          <p:cNvSpPr/>
          <p:nvPr/>
        </p:nvSpPr>
        <p:spPr>
          <a:xfrm rot="0" flipH="false" flipV="false">
            <a:off x="8636000" y="2159000"/>
            <a:ext cx="2540000" cy="1714500"/>
          </a:xfrm>
          <a:prstGeom prst="roundRect">
            <a:avLst>
              <a:gd name="adj" fmla="val 5925"/>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826500" y="2349500"/>
            <a:ext cx="406400" cy="406400"/>
          </a:xfrm>
          <a:prstGeom prst="rect">
            <a:avLst/>
          </a:prstGeom>
        </p:spPr>
      </p:pic>
      <p:sp>
        <p:nvSpPr>
          <p:cNvPr name="AutoShape 22" id="22"/>
          <p:cNvSpPr/>
          <p:nvPr/>
        </p:nvSpPr>
        <p:spPr>
          <a:xfrm rot="0" flipH="false" flipV="false">
            <a:off x="9398000" y="2349500"/>
            <a:ext cx="165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Hutool 工具包</a:t>
            </a:r>
            <a:endParaRPr lang="en-US" sz="1100"/>
          </a:p>
        </p:txBody>
      </p:sp>
      <p:sp>
        <p:nvSpPr>
          <p:cNvPr name="AutoShape 23" id="23"/>
          <p:cNvSpPr/>
          <p:nvPr/>
        </p:nvSpPr>
        <p:spPr>
          <a:xfrm rot="0" flipH="false" flipV="false">
            <a:off x="8826500" y="2921000"/>
            <a:ext cx="2159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0000"/>
              </a:lnSpc>
              <a:defRPr/>
            </a:pPr>
            <a:r>
              <a:rPr lang="en-US" b="false" i="false" strike="noStrike" u="none" sz="1000">
                <a:solidFill>
                  <a:srgbClr val="6B7280"/>
                </a:solidFill>
                <a:latin typeface="Noto Sans SC"/>
                <a:ea typeface="Noto Sans SC"/>
                <a:cs typeface="Noto Sans SC"/>
                <a:sym typeface="Noto Sans SC"/>
              </a:rPr>
              <a:t>功能丰富的Java工具集，覆盖日期、加密、IO等，大幅提升开发效率。</a:t>
            </a:r>
            <a:endParaRPr lang="en-US" sz="1100"/>
          </a:p>
        </p:txBody>
      </p:sp>
      <p:sp>
        <p:nvSpPr>
          <p:cNvPr name="AutoShape 24" id="24"/>
          <p:cNvSpPr/>
          <p:nvPr/>
        </p:nvSpPr>
        <p:spPr>
          <a:xfrm rot="0" flipH="false" flipV="false">
            <a:off x="5842000" y="4064000"/>
            <a:ext cx="2540000" cy="1714500"/>
          </a:xfrm>
          <a:prstGeom prst="roundRect">
            <a:avLst>
              <a:gd name="adj" fmla="val 5925"/>
            </a:avLst>
          </a:prstGeom>
          <a:solidFill>
            <a:srgbClr val="FFFFFF">
              <a:alpha val="100000"/>
            </a:srgbClr>
          </a:solidFill>
          <a:ln w="12700" cmpd="sng" cap="flat">
            <a:solidFill>
              <a:srgbClr val="E5E7EB">
                <a:alpha val="100000"/>
              </a:srgbClr>
            </a:solidFill>
            <a:prstDash val="solid"/>
            <a:round/>
          </a:ln>
        </p:spPr>
        <p:txBody>
          <a:bodyPr anchor="ctr" rtlCol="false" anchorCtr="false" vert="horz" wrap="square" lIns="0" rIns="0" tIns="0" bIns="0"/>
          <a:lstStyle/>
          <a:p>
            <a:pPr algn="ctr">
              <a:defRPr/>
            </a:pPr>
            <a:endParaRPr/>
          </a:p>
        </p:txBody>
      </p:sp>
      <p:pic>
        <p:nvPicPr>
          <p:cNvPr name="Picture 25" id="2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032500" y="4254500"/>
            <a:ext cx="406400" cy="406400"/>
          </a:xfrm>
          <a:prstGeom prst="rect">
            <a:avLst/>
          </a:prstGeom>
        </p:spPr>
      </p:pic>
      <p:sp>
        <p:nvSpPr>
          <p:cNvPr name="AutoShape 26" id="26"/>
          <p:cNvSpPr/>
          <p:nvPr/>
        </p:nvSpPr>
        <p:spPr>
          <a:xfrm rot="0" flipH="false" flipV="false">
            <a:off x="6604000" y="4254500"/>
            <a:ext cx="165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1F2937"/>
                </a:solidFill>
                <a:latin typeface="Noto Sans SC"/>
                <a:ea typeface="Noto Sans SC"/>
                <a:cs typeface="Noto Sans SC"/>
                <a:sym typeface="Noto Sans SC"/>
              </a:rPr>
              <a:t>JWT (JSON Web Token)</a:t>
            </a:r>
            <a:endParaRPr lang="en-US" sz="1100"/>
          </a:p>
        </p:txBody>
      </p:sp>
      <p:sp>
        <p:nvSpPr>
          <p:cNvPr name="AutoShape 27" id="27"/>
          <p:cNvSpPr/>
          <p:nvPr/>
        </p:nvSpPr>
        <p:spPr>
          <a:xfrm rot="0" flipH="false" flipV="false">
            <a:off x="6032500" y="4826000"/>
            <a:ext cx="2159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0000"/>
              </a:lnSpc>
              <a:defRPr/>
            </a:pPr>
            <a:r>
              <a:rPr lang="en-US" b="false" i="false" strike="noStrike" u="none" sz="900">
                <a:solidFill>
                  <a:srgbClr val="6B7280"/>
                </a:solidFill>
                <a:latin typeface="Noto Sans SC"/>
                <a:ea typeface="Noto Sans SC"/>
                <a:cs typeface="Noto Sans SC"/>
                <a:sym typeface="Noto Sans SC"/>
              </a:rPr>
              <a:t>用于在各方之间安全地传输信息的紧凑URL-safe方式。在本项目中用于实现无状态的用户身份认证，确保API请求的安全性。</a:t>
            </a:r>
            <a:endParaRPr lang="en-US" sz="1100"/>
          </a:p>
        </p:txBody>
      </p:sp>
      <p:sp>
        <p:nvSpPr>
          <p:cNvPr name="AutoShape 28" id="28"/>
          <p:cNvSpPr/>
          <p:nvPr/>
        </p:nvSpPr>
        <p:spPr>
          <a:xfrm rot="0" flipH="false" flipV="false">
            <a:off x="8636000" y="4064000"/>
            <a:ext cx="2540000" cy="1714500"/>
          </a:xfrm>
          <a:prstGeom prst="roundRect">
            <a:avLst>
              <a:gd name="adj" fmla="val 5925"/>
            </a:avLst>
          </a:prstGeom>
          <a:solidFill>
            <a:srgbClr val="FFFFFF">
              <a:alpha val="100000"/>
            </a:srgbClr>
          </a:solidFill>
          <a:ln w="12700" cmpd="sng" cap="flat">
            <a:solidFill>
              <a:srgbClr val="E5E7EB">
                <a:alpha val="100000"/>
              </a:srgbClr>
            </a:solidFill>
            <a:prstDash val="solid"/>
            <a:round/>
          </a:ln>
        </p:spPr>
        <p:txBody>
          <a:bodyPr anchor="ctr" rtlCol="false" anchorCtr="false" vert="horz" wrap="square" lIns="0" rIns="0" tIns="0" bIns="0"/>
          <a:lstStyle/>
          <a:p>
            <a:pPr algn="ctr">
              <a:defRPr/>
            </a:pPr>
            <a:endParaRPr/>
          </a:p>
        </p:txBody>
      </p:sp>
      <p:pic>
        <p:nvPicPr>
          <p:cNvPr name="Picture 29" id="2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8826500" y="4254500"/>
            <a:ext cx="406400" cy="406400"/>
          </a:xfrm>
          <a:prstGeom prst="rect">
            <a:avLst/>
          </a:prstGeom>
        </p:spPr>
      </p:pic>
      <p:sp>
        <p:nvSpPr>
          <p:cNvPr name="AutoShape 30" id="30"/>
          <p:cNvSpPr/>
          <p:nvPr/>
        </p:nvSpPr>
        <p:spPr>
          <a:xfrm rot="0" flipH="false" flipV="false">
            <a:off x="9398000" y="4254500"/>
            <a:ext cx="165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BCrypt</a:t>
            </a:r>
            <a:endParaRPr lang="en-US" sz="1100"/>
          </a:p>
        </p:txBody>
      </p:sp>
      <p:sp>
        <p:nvSpPr>
          <p:cNvPr name="AutoShape 31" id="31"/>
          <p:cNvSpPr/>
          <p:nvPr/>
        </p:nvSpPr>
        <p:spPr>
          <a:xfrm rot="0" flipH="false" flipV="false">
            <a:off x="8826500" y="4826000"/>
            <a:ext cx="2159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0000"/>
              </a:lnSpc>
              <a:defRPr/>
            </a:pPr>
            <a:r>
              <a:rPr lang="en-US" b="false" i="false" strike="noStrike" u="none" sz="900">
                <a:solidFill>
                  <a:srgbClr val="6B7280"/>
                </a:solidFill>
                <a:latin typeface="Noto Sans SC"/>
                <a:ea typeface="Noto Sans SC"/>
                <a:cs typeface="Noto Sans SC"/>
                <a:sym typeface="Noto Sans SC"/>
              </a:rPr>
              <a:t>一种自适应的密码哈希函数，包含了一个盐（salt）来抵御彩虹表攻击。本项目使用它来安全地加密存储用户密码，保障用户数据安全。</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03 系统功能模块</a:t>
            </a:r>
            <a:endParaRPr lang="en-US" sz="1100"/>
          </a:p>
        </p:txBody>
      </p:sp>
      <p:sp>
        <p:nvSpPr>
          <p:cNvPr name="AutoShape 4" id="4"/>
          <p:cNvSpPr/>
          <p:nvPr/>
        </p:nvSpPr>
        <p:spPr>
          <a:xfrm rot="0" flipH="false" flipV="false">
            <a:off x="762000" y="1524000"/>
            <a:ext cx="5207000" cy="4572000"/>
          </a:xfrm>
          <a:prstGeom prst="roundRect">
            <a:avLst>
              <a:gd name="adj" fmla="val 3333"/>
            </a:avLst>
          </a:prstGeom>
          <a:solidFill>
            <a:srgbClr val="FFFFFF">
              <a:alpha val="95000"/>
            </a:srgbClr>
          </a:solidFill>
          <a:ln w="25400" cmpd="sng" cap="flat">
            <a:noFill/>
            <a:prstDash val="solid"/>
            <a:round/>
          </a:ln>
          <a:effectLst>
            <a:outerShdw dir="54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78000"/>
            <a:ext cx="914400" cy="914400"/>
          </a:xfrm>
          <a:prstGeom prst="roundRect">
            <a:avLst>
              <a:gd name="adj" fmla="val 27777"/>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219200" y="1981200"/>
            <a:ext cx="508000" cy="508000"/>
          </a:xfrm>
          <a:prstGeom prst="rect">
            <a:avLst/>
          </a:prstGeom>
        </p:spPr>
      </p:pic>
      <p:sp>
        <p:nvSpPr>
          <p:cNvPr name="AutoShape 7" id="7"/>
          <p:cNvSpPr/>
          <p:nvPr/>
        </p:nvSpPr>
        <p:spPr>
          <a:xfrm rot="0" flipH="false" flipV="false">
            <a:off x="2159000" y="1905000"/>
            <a:ext cx="3302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用户认证模块</a:t>
            </a:r>
            <a:endParaRPr lang="en-US" sz="1100"/>
          </a:p>
        </p:txBody>
      </p:sp>
      <p:sp>
        <p:nvSpPr>
          <p:cNvPr name="AutoShape 8" id="8"/>
          <p:cNvSpPr/>
          <p:nvPr/>
        </p:nvSpPr>
        <p:spPr>
          <a:xfrm rot="0" flipH="false" flipV="false">
            <a:off x="2159000" y="24765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负责用户身份识别与权限管理，是保障系统数据安全与合规访问的第一道防线。</a:t>
            </a:r>
            <a:endParaRPr lang="en-US" sz="1100"/>
          </a:p>
        </p:txBody>
      </p:sp>
      <p:sp>
        <p:nvSpPr>
          <p:cNvPr name="AutoShape 9" id="9"/>
          <p:cNvSpPr/>
          <p:nvPr/>
        </p:nvSpPr>
        <p:spPr>
          <a:xfrm rot="0" flipH="false" flipV="false">
            <a:off x="1016000" y="3429000"/>
            <a:ext cx="4699000" cy="1651000"/>
          </a:xfrm>
          <a:prstGeom prst="roundRect">
            <a:avLst>
              <a:gd name="adj" fmla="val 6153"/>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270000" y="36195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65F46"/>
                </a:solidFill>
                <a:latin typeface="Noto Sans SC"/>
                <a:ea typeface="Noto Sans SC"/>
                <a:cs typeface="Noto Sans SC"/>
                <a:sym typeface="Noto Sans SC"/>
              </a:rPr>
              <a:t>核心功能架构</a:t>
            </a:r>
            <a:endParaRPr lang="en-US" sz="1100"/>
          </a:p>
        </p:txBody>
      </p:sp>
      <p:sp>
        <p:nvSpPr>
          <p:cNvPr name="AutoShape 11" id="11"/>
          <p:cNvSpPr/>
          <p:nvPr/>
        </p:nvSpPr>
        <p:spPr>
          <a:xfrm rot="0" flipH="false" flipV="false">
            <a:off x="1270000" y="4064000"/>
            <a:ext cx="4191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374151"/>
                </a:solidFill>
                <a:latin typeface="Noto Sans SC"/>
                <a:ea typeface="Noto Sans SC"/>
                <a:cs typeface="Noto Sans SC"/>
                <a:sym typeface="Noto Sans SC"/>
              </a:rPr>
              <a:t>● 支持手机号/邮箱/第三方账号的多方式注册与登录</a:t>
            </a:r>
            <a:r>
              <a:rPr lang="en-US" b="false" i="false" strike="noStrike" u="none" sz="1200">
                <a:solidFill>
                  <a:srgbClr val="374151"/>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374151"/>
                </a:solidFill>
                <a:latin typeface="Noto Sans SC"/>
                <a:ea typeface="Noto Sans SC"/>
                <a:cs typeface="Noto Sans SC"/>
                <a:sym typeface="Noto Sans SC"/>
              </a:rPr>
              <a:t>● 基于 JWT 的无状态令牌认证与鉴权机制</a:t>
            </a:r>
            <a:r>
              <a:rPr lang="en-US" b="false" i="false" strike="noStrike" u="none" sz="1200">
                <a:solidFill>
                  <a:srgbClr val="374151"/>
                </a:solidFill>
                <a:latin typeface="Noto Sans SC"/>
                <a:ea typeface="Noto Sans SC"/>
                <a:cs typeface="Noto Sans SC"/>
                <a:sym typeface="Noto Sans SC"/>
              </a:rPr>
              <a:t/>
            </a:r>
          </a:p>
          <a:p>
            <a:pPr algn="l" indent="0">
              <a:lnSpc>
                <a:spcPct val="125000"/>
              </a:lnSpc>
            </a:pPr>
            <a:r>
              <a:rPr lang="en-US" b="false" i="false" strike="noStrike" u="none" sz="1200">
                <a:solidFill>
                  <a:srgbClr val="374151"/>
                </a:solidFill>
                <a:latin typeface="Noto Sans SC"/>
                <a:ea typeface="Noto Sans SC"/>
                <a:cs typeface="Noto Sans SC"/>
                <a:sym typeface="Noto Sans SC"/>
              </a:rPr>
              <a:t>● 敏感信息加密存储与登录异常行为监测</a:t>
            </a:r>
          </a:p>
        </p:txBody>
      </p:sp>
      <p:sp>
        <p:nvSpPr>
          <p:cNvPr name="AutoShape 12" id="12"/>
          <p:cNvSpPr/>
          <p:nvPr/>
        </p:nvSpPr>
        <p:spPr>
          <a:xfrm rot="0" flipH="false" flipV="false">
            <a:off x="6223000" y="1524000"/>
            <a:ext cx="5207000" cy="4572000"/>
          </a:xfrm>
          <a:prstGeom prst="roundRect">
            <a:avLst>
              <a:gd name="adj" fmla="val 3333"/>
            </a:avLst>
          </a:prstGeom>
          <a:solidFill>
            <a:srgbClr val="FFFFFF">
              <a:alpha val="95000"/>
            </a:srgbClr>
          </a:solidFill>
          <a:ln w="25400" cmpd="sng" cap="flat">
            <a:noFill/>
            <a:prstDash val="solid"/>
            <a:round/>
          </a:ln>
          <a:effectLst>
            <a:outerShdw dir="54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477000" y="1778000"/>
            <a:ext cx="914400" cy="914400"/>
          </a:xfrm>
          <a:prstGeom prst="roundRect">
            <a:avLst>
              <a:gd name="adj" fmla="val 27777"/>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80200" y="1981200"/>
            <a:ext cx="508000" cy="508000"/>
          </a:xfrm>
          <a:prstGeom prst="rect">
            <a:avLst/>
          </a:prstGeom>
        </p:spPr>
      </p:pic>
      <p:sp>
        <p:nvSpPr>
          <p:cNvPr name="AutoShape 15" id="15"/>
          <p:cNvSpPr/>
          <p:nvPr/>
        </p:nvSpPr>
        <p:spPr>
          <a:xfrm rot="0" flipH="false" flipV="false">
            <a:off x="7620000" y="1905000"/>
            <a:ext cx="3302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会员管理模块</a:t>
            </a:r>
            <a:endParaRPr lang="en-US" sz="1100"/>
          </a:p>
        </p:txBody>
      </p:sp>
      <p:sp>
        <p:nvSpPr>
          <p:cNvPr name="AutoShape 16" id="16"/>
          <p:cNvSpPr/>
          <p:nvPr/>
        </p:nvSpPr>
        <p:spPr>
          <a:xfrm rot="0" flipH="false" flipV="false">
            <a:off x="7620000" y="24765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构建灵活可扩展的会员成长体系，实现用户分层运营，驱动服务增值与商业化变现。</a:t>
            </a:r>
            <a:endParaRPr lang="en-US" sz="1100"/>
          </a:p>
        </p:txBody>
      </p:sp>
      <p:sp>
        <p:nvSpPr>
          <p:cNvPr name="AutoShape 17" id="17"/>
          <p:cNvSpPr/>
          <p:nvPr/>
        </p:nvSpPr>
        <p:spPr>
          <a:xfrm rot="0" flipH="false" flipV="false">
            <a:off x="6477000" y="3429000"/>
            <a:ext cx="4699000" cy="1651000"/>
          </a:xfrm>
          <a:prstGeom prst="roundRect">
            <a:avLst>
              <a:gd name="adj" fmla="val 6153"/>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731000" y="36195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65F46"/>
                </a:solidFill>
                <a:latin typeface="Noto Sans SC"/>
                <a:ea typeface="Noto Sans SC"/>
                <a:cs typeface="Noto Sans SC"/>
                <a:sym typeface="Noto Sans SC"/>
              </a:rPr>
              <a:t>核心运营能力</a:t>
            </a:r>
            <a:endParaRPr lang="en-US" sz="1100"/>
          </a:p>
        </p:txBody>
      </p:sp>
      <p:sp>
        <p:nvSpPr>
          <p:cNvPr name="AutoShape 19" id="19"/>
          <p:cNvSpPr/>
          <p:nvPr/>
        </p:nvSpPr>
        <p:spPr>
          <a:xfrm rot="0" flipH="false" flipV="false">
            <a:off x="6731000" y="4064000"/>
            <a:ext cx="4191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374151"/>
                </a:solidFill>
                <a:latin typeface="Noto Sans SC"/>
                <a:ea typeface="Noto Sans SC"/>
                <a:cs typeface="Noto Sans SC"/>
                <a:sym typeface="Noto Sans SC"/>
              </a:rPr>
              <a:t>● 自定义会员等级体系与自动升降级规则</a:t>
            </a:r>
            <a:r>
              <a:rPr lang="en-US" b="false" i="false" strike="noStrike" u="none" sz="1200">
                <a:solidFill>
                  <a:srgbClr val="374151"/>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374151"/>
                </a:solidFill>
                <a:latin typeface="Noto Sans SC"/>
                <a:ea typeface="Noto Sans SC"/>
                <a:cs typeface="Noto Sans SC"/>
                <a:sym typeface="Noto Sans SC"/>
              </a:rPr>
              <a:t>● 动态权益池管理与实时状态计算</a:t>
            </a:r>
            <a:r>
              <a:rPr lang="en-US" b="false" i="false" strike="noStrike" u="none" sz="1200">
                <a:solidFill>
                  <a:srgbClr val="374151"/>
                </a:solidFill>
                <a:latin typeface="Noto Sans SC"/>
                <a:ea typeface="Noto Sans SC"/>
                <a:cs typeface="Noto Sans SC"/>
                <a:sym typeface="Noto Sans SC"/>
              </a:rPr>
              <a:t/>
            </a:r>
          </a:p>
          <a:p>
            <a:pPr algn="l" indent="0">
              <a:lnSpc>
                <a:spcPct val="125000"/>
              </a:lnSpc>
            </a:pPr>
            <a:r>
              <a:rPr lang="en-US" b="false" i="false" strike="noStrike" u="none" sz="1200">
                <a:solidFill>
                  <a:srgbClr val="374151"/>
                </a:solidFill>
                <a:latin typeface="Noto Sans SC"/>
                <a:ea typeface="Noto Sans SC"/>
                <a:cs typeface="Noto Sans SC"/>
                <a:sym typeface="Noto Sans SC"/>
              </a:rPr>
              <a:t>● 会员生命周期全链路数据监控与分析</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03 系统功能模块</a:t>
            </a:r>
            <a:endParaRPr lang="en-US" sz="1100"/>
          </a:p>
        </p:txBody>
      </p:sp>
      <p:sp>
        <p:nvSpPr>
          <p:cNvPr name="AutoShape 4" id="4"/>
          <p:cNvSpPr/>
          <p:nvPr/>
        </p:nvSpPr>
        <p:spPr>
          <a:xfrm rot="0" flipH="false" flipV="false">
            <a:off x="762000" y="11684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4B5563"/>
                </a:solidFill>
                <a:latin typeface="Noto Sans SC"/>
                <a:ea typeface="Noto Sans SC"/>
                <a:cs typeface="Noto Sans SC"/>
                <a:sym typeface="Noto Sans SC"/>
              </a:rPr>
              <a:t>使用控制、对话历史与订单管理</a:t>
            </a:r>
            <a:endParaRPr lang="en-US" sz="1100"/>
          </a:p>
        </p:txBody>
      </p:sp>
      <p:sp>
        <p:nvSpPr>
          <p:cNvPr name="AutoShape 5" id="5"/>
          <p:cNvSpPr/>
          <p:nvPr/>
        </p:nvSpPr>
        <p:spPr>
          <a:xfrm rot="0" flipH="false" flipV="false">
            <a:off x="762000" y="1905000"/>
            <a:ext cx="3302000" cy="4191000"/>
          </a:xfrm>
          <a:prstGeom prst="roundRect">
            <a:avLst>
              <a:gd name="adj" fmla="val 4615"/>
            </a:avLst>
          </a:prstGeom>
          <a:solidFill>
            <a:srgbClr val="FFFFFF">
              <a:alpha val="95000"/>
            </a:srgbClr>
          </a:solidFill>
          <a:ln w="25400" cmpd="sng" cap="flat">
            <a:noFill/>
            <a:prstDash val="solid"/>
            <a:round/>
          </a:ln>
          <a:effectLst>
            <a:outerShdw dir="27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159000"/>
            <a:ext cx="711200" cy="711200"/>
          </a:xfrm>
          <a:prstGeom prst="ellipse">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168400" y="2311400"/>
            <a:ext cx="406400" cy="406400"/>
          </a:xfrm>
          <a:prstGeom prst="rect">
            <a:avLst/>
          </a:prstGeom>
        </p:spPr>
      </p:pic>
      <p:sp>
        <p:nvSpPr>
          <p:cNvPr name="AutoShape 8" id="8"/>
          <p:cNvSpPr/>
          <p:nvPr/>
        </p:nvSpPr>
        <p:spPr>
          <a:xfrm rot="0" flipH="false" flipV="false">
            <a:off x="1905000" y="2286000"/>
            <a:ext cx="1905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使用次数管理</a:t>
            </a:r>
            <a:endParaRPr lang="en-US" sz="1100"/>
          </a:p>
        </p:txBody>
      </p:sp>
      <p:cxnSp>
        <p:nvCxnSpPr>
          <p:cNvPr name="Connector 9" id="9"/>
          <p:cNvCxnSpPr/>
          <p:nvPr/>
        </p:nvCxnSpPr>
        <p:spPr>
          <a:xfrm rot="-15626" flipH="false" flipV="false">
            <a:off x="1016014" y="3041650"/>
            <a:ext cx="2794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0" id="10"/>
          <p:cNvSpPr/>
          <p:nvPr/>
        </p:nvSpPr>
        <p:spPr>
          <a:xfrm rot="0" flipH="false" flipV="false">
            <a:off x="1016000" y="3302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10B981"/>
                </a:solidFill>
                <a:latin typeface="Noto Sans SC"/>
                <a:ea typeface="Noto Sans SC"/>
                <a:cs typeface="Noto Sans SC"/>
                <a:sym typeface="Noto Sans SC"/>
              </a:rPr>
              <a:t>▌ 核心功能定位</a:t>
            </a:r>
            <a:endParaRPr lang="en-US" sz="1100"/>
          </a:p>
        </p:txBody>
      </p:sp>
      <p:sp>
        <p:nvSpPr>
          <p:cNvPr name="AutoShape 11" id="11"/>
          <p:cNvSpPr/>
          <p:nvPr/>
        </p:nvSpPr>
        <p:spPr>
          <a:xfrm rot="0" flipH="false" flipV="false">
            <a:off x="1016000" y="3683000"/>
            <a:ext cx="2794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精细化控制用户服务使用频率，平衡免费用户体验与后端系统资源消耗。</a:t>
            </a:r>
            <a:endParaRPr lang="en-US" sz="1100"/>
          </a:p>
        </p:txBody>
      </p:sp>
      <p:sp>
        <p:nvSpPr>
          <p:cNvPr name="AutoShape 12" id="12"/>
          <p:cNvSpPr/>
          <p:nvPr/>
        </p:nvSpPr>
        <p:spPr>
          <a:xfrm rot="0" flipH="false" flipV="false">
            <a:off x="1016000" y="4572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10B981"/>
                </a:solidFill>
                <a:latin typeface="Noto Sans SC"/>
                <a:ea typeface="Noto Sans SC"/>
                <a:cs typeface="Noto Sans SC"/>
                <a:sym typeface="Noto Sans SC"/>
              </a:rPr>
              <a:t>▌ 关键能力支持</a:t>
            </a:r>
            <a:endParaRPr lang="en-US" sz="1100"/>
          </a:p>
        </p:txBody>
      </p:sp>
      <p:sp>
        <p:nvSpPr>
          <p:cNvPr name="AutoShape 13" id="13"/>
          <p:cNvSpPr/>
          <p:nvPr/>
        </p:nvSpPr>
        <p:spPr>
          <a:xfrm rot="0" flipH="false" flipV="false">
            <a:off x="1016000" y="4953000"/>
            <a:ext cx="2794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374151"/>
                </a:solidFill>
                <a:latin typeface="Noto Sans SC"/>
                <a:ea typeface="Noto Sans SC"/>
                <a:cs typeface="Noto Sans SC"/>
                <a:sym typeface="Noto Sans SC"/>
              </a:rPr>
              <a:t>• 免费额度实时监控与控制</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false" i="false" strike="noStrike" u="none" sz="1200">
                <a:solidFill>
                  <a:srgbClr val="374151"/>
                </a:solidFill>
                <a:latin typeface="Noto Sans SC"/>
                <a:ea typeface="Noto Sans SC"/>
                <a:cs typeface="Noto Sans SC"/>
                <a:sym typeface="Noto Sans SC"/>
              </a:rPr>
              <a:t>• 配额变动毫秒级同步</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false" i="false" strike="noStrike" u="none" sz="1200">
                <a:solidFill>
                  <a:srgbClr val="374151"/>
                </a:solidFill>
                <a:latin typeface="Noto Sans SC"/>
                <a:ea typeface="Noto Sans SC"/>
                <a:cs typeface="Noto Sans SC"/>
                <a:sym typeface="Noto Sans SC"/>
              </a:rPr>
              <a:t>• 每日/每月额度自动重置机制</a:t>
            </a:r>
            <a:endParaRPr lang="en-US" sz="1100"/>
          </a:p>
        </p:txBody>
      </p:sp>
      <p:sp>
        <p:nvSpPr>
          <p:cNvPr name="AutoShape 14" id="14"/>
          <p:cNvSpPr/>
          <p:nvPr/>
        </p:nvSpPr>
        <p:spPr>
          <a:xfrm rot="0" flipH="false" flipV="false">
            <a:off x="4445000" y="1905000"/>
            <a:ext cx="3302000" cy="4191000"/>
          </a:xfrm>
          <a:prstGeom prst="roundRect">
            <a:avLst>
              <a:gd name="adj" fmla="val 4615"/>
            </a:avLst>
          </a:prstGeom>
          <a:solidFill>
            <a:srgbClr val="FFFFFF">
              <a:alpha val="95000"/>
            </a:srgbClr>
          </a:solidFill>
          <a:ln w="25400" cmpd="sng" cap="flat">
            <a:noFill/>
            <a:prstDash val="solid"/>
            <a:round/>
          </a:ln>
          <a:effectLst>
            <a:outerShdw dir="27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699000" y="2159000"/>
            <a:ext cx="711200" cy="711200"/>
          </a:xfrm>
          <a:prstGeom prst="ellipse">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851400" y="2311400"/>
            <a:ext cx="406400" cy="406400"/>
          </a:xfrm>
          <a:prstGeom prst="rect">
            <a:avLst/>
          </a:prstGeom>
        </p:spPr>
      </p:pic>
      <p:sp>
        <p:nvSpPr>
          <p:cNvPr name="AutoShape 17" id="17"/>
          <p:cNvSpPr/>
          <p:nvPr/>
        </p:nvSpPr>
        <p:spPr>
          <a:xfrm rot="0" flipH="false" flipV="false">
            <a:off x="5588000" y="2286000"/>
            <a:ext cx="1905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AI 对话历史</a:t>
            </a:r>
            <a:endParaRPr lang="en-US" sz="1100"/>
          </a:p>
        </p:txBody>
      </p:sp>
      <p:cxnSp>
        <p:nvCxnSpPr>
          <p:cNvPr name="Connector 18" id="18"/>
          <p:cNvCxnSpPr/>
          <p:nvPr/>
        </p:nvCxnSpPr>
        <p:spPr>
          <a:xfrm rot="-15626" flipH="false" flipV="false">
            <a:off x="4699014" y="3041650"/>
            <a:ext cx="2794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9" id="19"/>
          <p:cNvSpPr/>
          <p:nvPr/>
        </p:nvSpPr>
        <p:spPr>
          <a:xfrm rot="0" flipH="false" flipV="false">
            <a:off x="4699000" y="3302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10B981"/>
                </a:solidFill>
                <a:latin typeface="Noto Sans SC"/>
                <a:ea typeface="Noto Sans SC"/>
                <a:cs typeface="Noto Sans SC"/>
                <a:sym typeface="Noto Sans SC"/>
              </a:rPr>
              <a:t>▌ 核心功能定位</a:t>
            </a:r>
            <a:endParaRPr lang="en-US" sz="1100"/>
          </a:p>
        </p:txBody>
      </p:sp>
      <p:sp>
        <p:nvSpPr>
          <p:cNvPr name="AutoShape 20" id="20"/>
          <p:cNvSpPr/>
          <p:nvPr/>
        </p:nvSpPr>
        <p:spPr>
          <a:xfrm rot="0" flipH="false" flipV="false">
            <a:off x="4699000" y="3683000"/>
            <a:ext cx="2794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完整记录用户与AI的交互全过程，支持用户随时回溯历史记录并进行管理。</a:t>
            </a:r>
            <a:endParaRPr lang="en-US" sz="1100"/>
          </a:p>
        </p:txBody>
      </p:sp>
      <p:sp>
        <p:nvSpPr>
          <p:cNvPr name="AutoShape 21" id="21"/>
          <p:cNvSpPr/>
          <p:nvPr/>
        </p:nvSpPr>
        <p:spPr>
          <a:xfrm rot="0" flipH="false" flipV="false">
            <a:off x="4699000" y="4572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10B981"/>
                </a:solidFill>
                <a:latin typeface="Noto Sans SC"/>
                <a:ea typeface="Noto Sans SC"/>
                <a:cs typeface="Noto Sans SC"/>
                <a:sym typeface="Noto Sans SC"/>
              </a:rPr>
              <a:t>▌ 关键能力支持</a:t>
            </a:r>
            <a:endParaRPr lang="en-US" sz="1100"/>
          </a:p>
        </p:txBody>
      </p:sp>
      <p:sp>
        <p:nvSpPr>
          <p:cNvPr name="AutoShape 22" id="22"/>
          <p:cNvSpPr/>
          <p:nvPr/>
        </p:nvSpPr>
        <p:spPr>
          <a:xfrm rot="0" flipH="false" flipV="false">
            <a:off x="4699000" y="4953000"/>
            <a:ext cx="2794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374151"/>
                </a:solidFill>
                <a:latin typeface="Noto Sans SC"/>
                <a:ea typeface="Noto Sans SC"/>
                <a:cs typeface="Noto Sans SC"/>
                <a:sym typeface="Noto Sans SC"/>
              </a:rPr>
              <a:t>• 长对话上下文持久化存储</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false" i="false" strike="noStrike" u="none" sz="1200">
                <a:solidFill>
                  <a:srgbClr val="374151"/>
                </a:solidFill>
                <a:latin typeface="Noto Sans SC"/>
                <a:ea typeface="Noto Sans SC"/>
                <a:cs typeface="Noto Sans SC"/>
                <a:sym typeface="Noto Sans SC"/>
              </a:rPr>
              <a:t>• 多维度历史记录快速检索</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false" i="false" strike="noStrike" u="none" sz="1200">
                <a:solidFill>
                  <a:srgbClr val="374151"/>
                </a:solidFill>
                <a:latin typeface="Noto Sans SC"/>
                <a:ea typeface="Noto Sans SC"/>
                <a:cs typeface="Noto Sans SC"/>
                <a:sym typeface="Noto Sans SC"/>
              </a:rPr>
              <a:t>• 单条记录/全量记录数据管理</a:t>
            </a:r>
            <a:endParaRPr lang="en-US" sz="1100"/>
          </a:p>
        </p:txBody>
      </p:sp>
      <p:sp>
        <p:nvSpPr>
          <p:cNvPr name="AutoShape 23" id="23"/>
          <p:cNvSpPr/>
          <p:nvPr/>
        </p:nvSpPr>
        <p:spPr>
          <a:xfrm rot="0" flipH="false" flipV="false">
            <a:off x="8128000" y="1905000"/>
            <a:ext cx="3302000" cy="4191000"/>
          </a:xfrm>
          <a:prstGeom prst="roundRect">
            <a:avLst>
              <a:gd name="adj" fmla="val 4615"/>
            </a:avLst>
          </a:prstGeom>
          <a:solidFill>
            <a:srgbClr val="FFFFFF">
              <a:alpha val="95000"/>
            </a:srgbClr>
          </a:solidFill>
          <a:ln w="25400" cmpd="sng" cap="flat">
            <a:noFill/>
            <a:prstDash val="solid"/>
            <a:round/>
          </a:ln>
          <a:effectLst>
            <a:outerShdw dir="27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382000" y="2159000"/>
            <a:ext cx="711200" cy="711200"/>
          </a:xfrm>
          <a:prstGeom prst="ellipse">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534400" y="2311400"/>
            <a:ext cx="406400" cy="406400"/>
          </a:xfrm>
          <a:prstGeom prst="rect">
            <a:avLst/>
          </a:prstGeom>
        </p:spPr>
      </p:pic>
      <p:sp>
        <p:nvSpPr>
          <p:cNvPr name="AutoShape 26" id="26"/>
          <p:cNvSpPr/>
          <p:nvPr/>
        </p:nvSpPr>
        <p:spPr>
          <a:xfrm rot="0" flipH="false" flipV="false">
            <a:off x="9271000" y="2286000"/>
            <a:ext cx="1905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订单管理模块</a:t>
            </a:r>
            <a:endParaRPr lang="en-US" sz="1100"/>
          </a:p>
        </p:txBody>
      </p:sp>
      <p:cxnSp>
        <p:nvCxnSpPr>
          <p:cNvPr name="Connector 27" id="27"/>
          <p:cNvCxnSpPr/>
          <p:nvPr/>
        </p:nvCxnSpPr>
        <p:spPr>
          <a:xfrm rot="-15626" flipH="false" flipV="false">
            <a:off x="8382014" y="3041650"/>
            <a:ext cx="2794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8" id="28"/>
          <p:cNvSpPr/>
          <p:nvPr/>
        </p:nvSpPr>
        <p:spPr>
          <a:xfrm rot="0" flipH="false" flipV="false">
            <a:off x="8382000" y="3302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10B981"/>
                </a:solidFill>
                <a:latin typeface="Noto Sans SC"/>
                <a:ea typeface="Noto Sans SC"/>
                <a:cs typeface="Noto Sans SC"/>
                <a:sym typeface="Noto Sans SC"/>
              </a:rPr>
              <a:t>▌ 核心功能定位</a:t>
            </a:r>
            <a:endParaRPr lang="en-US" sz="1100"/>
          </a:p>
        </p:txBody>
      </p:sp>
      <p:sp>
        <p:nvSpPr>
          <p:cNvPr name="AutoShape 29" id="29"/>
          <p:cNvSpPr/>
          <p:nvPr/>
        </p:nvSpPr>
        <p:spPr>
          <a:xfrm rot="0" flipH="false" flipV="false">
            <a:off x="8382000" y="3683000"/>
            <a:ext cx="2794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处理用户购买会员套餐的完整交易流程，保障支付安全与权益发放的一致性。</a:t>
            </a:r>
            <a:endParaRPr lang="en-US" sz="1100"/>
          </a:p>
        </p:txBody>
      </p:sp>
      <p:sp>
        <p:nvSpPr>
          <p:cNvPr name="AutoShape 30" id="30"/>
          <p:cNvSpPr/>
          <p:nvPr/>
        </p:nvSpPr>
        <p:spPr>
          <a:xfrm rot="0" flipH="false" flipV="false">
            <a:off x="8382000" y="4572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10B981"/>
                </a:solidFill>
                <a:latin typeface="Noto Sans SC"/>
                <a:ea typeface="Noto Sans SC"/>
                <a:cs typeface="Noto Sans SC"/>
                <a:sym typeface="Noto Sans SC"/>
              </a:rPr>
              <a:t>▌ 关键能力支持</a:t>
            </a:r>
            <a:endParaRPr lang="en-US" sz="1100"/>
          </a:p>
        </p:txBody>
      </p:sp>
      <p:sp>
        <p:nvSpPr>
          <p:cNvPr name="AutoShape 31" id="31"/>
          <p:cNvSpPr/>
          <p:nvPr/>
        </p:nvSpPr>
        <p:spPr>
          <a:xfrm rot="0" flipH="false" flipV="false">
            <a:off x="8382000" y="4953000"/>
            <a:ext cx="2794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374151"/>
                </a:solidFill>
                <a:latin typeface="Noto Sans SC"/>
                <a:ea typeface="Noto Sans SC"/>
                <a:cs typeface="Noto Sans SC"/>
                <a:sym typeface="Noto Sans SC"/>
              </a:rPr>
              <a:t>• 标准订单创建与状态流转</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false" i="false" strike="noStrike" u="none" sz="1200">
                <a:solidFill>
                  <a:srgbClr val="374151"/>
                </a:solidFill>
                <a:latin typeface="Noto Sans SC"/>
                <a:ea typeface="Noto Sans SC"/>
                <a:cs typeface="Noto Sans SC"/>
                <a:sym typeface="Noto Sans SC"/>
              </a:rPr>
              <a:t>• 支付结果异步通知与同步</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false" i="false" strike="noStrike" u="none" sz="1200">
                <a:solidFill>
                  <a:srgbClr val="374151"/>
                </a:solidFill>
                <a:latin typeface="Noto Sans SC"/>
                <a:ea typeface="Noto Sans SC"/>
                <a:cs typeface="Noto Sans SC"/>
                <a:sym typeface="Noto Sans SC"/>
              </a:rPr>
              <a:t>• 会员权益实时自动激活</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04 数据库设计</a:t>
            </a:r>
            <a:endParaRPr lang="en-US" sz="1100"/>
          </a:p>
        </p:txBody>
      </p:sp>
      <p:sp>
        <p:nvSpPr>
          <p:cNvPr name="AutoShape 4" id="4"/>
          <p:cNvSpPr/>
          <p:nvPr/>
        </p:nvSpPr>
        <p:spPr>
          <a:xfrm rot="0" flipH="false" flipV="false">
            <a:off x="762000" y="1524000"/>
            <a:ext cx="5207000" cy="1397000"/>
          </a:xfrm>
          <a:prstGeom prst="roundRect">
            <a:avLst>
              <a:gd name="adj" fmla="val 10909"/>
            </a:avLst>
          </a:prstGeom>
          <a:solidFill>
            <a:srgbClr val="FFFFFF">
              <a:alpha val="95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841500"/>
            <a:ext cx="762000" cy="762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219200" y="2044700"/>
            <a:ext cx="355600" cy="355600"/>
          </a:xfrm>
          <a:prstGeom prst="rect">
            <a:avLst/>
          </a:prstGeom>
        </p:spPr>
      </p:pic>
      <p:sp>
        <p:nvSpPr>
          <p:cNvPr name="AutoShape 7" id="7"/>
          <p:cNvSpPr/>
          <p:nvPr/>
        </p:nvSpPr>
        <p:spPr>
          <a:xfrm rot="0" flipH="false" flipV="false">
            <a:off x="2032000" y="1714500"/>
            <a:ext cx="3556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用户基础信息表</a:t>
            </a:r>
            <a:endParaRPr lang="en-US" sz="1100"/>
          </a:p>
        </p:txBody>
      </p:sp>
      <p:sp>
        <p:nvSpPr>
          <p:cNvPr name="AutoShape 8" id="8"/>
          <p:cNvSpPr/>
          <p:nvPr/>
        </p:nvSpPr>
        <p:spPr>
          <a:xfrm rot="0" flipH="false" flipV="false">
            <a:off x="2032000" y="2070100"/>
            <a:ext cx="3556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10B981"/>
                </a:solidFill>
                <a:latin typeface="Noto Sans SC"/>
                <a:ea typeface="Noto Sans SC"/>
                <a:cs typeface="Noto Sans SC"/>
                <a:sym typeface="Noto Sans SC"/>
              </a:rPr>
              <a:t>Table: sys_user</a:t>
            </a:r>
            <a:endParaRPr lang="en-US" sz="1100"/>
          </a:p>
        </p:txBody>
      </p:sp>
      <p:sp>
        <p:nvSpPr>
          <p:cNvPr name="AutoShape 9" id="9"/>
          <p:cNvSpPr/>
          <p:nvPr/>
        </p:nvSpPr>
        <p:spPr>
          <a:xfrm rot="0" flipH="false" flipV="false">
            <a:off x="2032000" y="23876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存储系统用户的核心身份信息与认证凭据，是数据模型的基础中心表。</a:t>
            </a:r>
            <a:endParaRPr lang="en-US" sz="1100"/>
          </a:p>
        </p:txBody>
      </p:sp>
      <p:sp>
        <p:nvSpPr>
          <p:cNvPr name="AutoShape 10" id="10"/>
          <p:cNvSpPr/>
          <p:nvPr/>
        </p:nvSpPr>
        <p:spPr>
          <a:xfrm rot="0" flipH="false" flipV="false">
            <a:off x="762000" y="3175000"/>
            <a:ext cx="5207000" cy="1397000"/>
          </a:xfrm>
          <a:prstGeom prst="roundRect">
            <a:avLst>
              <a:gd name="adj" fmla="val 10909"/>
            </a:avLst>
          </a:prstGeom>
          <a:solidFill>
            <a:srgbClr val="FFFFFF">
              <a:alpha val="95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016000" y="3492500"/>
            <a:ext cx="762000" cy="762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219200" y="3695700"/>
            <a:ext cx="355600" cy="355600"/>
          </a:xfrm>
          <a:prstGeom prst="rect">
            <a:avLst/>
          </a:prstGeom>
        </p:spPr>
      </p:pic>
      <p:sp>
        <p:nvSpPr>
          <p:cNvPr name="AutoShape 13" id="13"/>
          <p:cNvSpPr/>
          <p:nvPr/>
        </p:nvSpPr>
        <p:spPr>
          <a:xfrm rot="0" flipH="false" flipV="false">
            <a:off x="2032000" y="3365500"/>
            <a:ext cx="3556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会员权益套餐表</a:t>
            </a:r>
            <a:endParaRPr lang="en-US" sz="1100"/>
          </a:p>
        </p:txBody>
      </p:sp>
      <p:sp>
        <p:nvSpPr>
          <p:cNvPr name="AutoShape 14" id="14"/>
          <p:cNvSpPr/>
          <p:nvPr/>
        </p:nvSpPr>
        <p:spPr>
          <a:xfrm rot="0" flipH="false" flipV="false">
            <a:off x="2032000" y="3721100"/>
            <a:ext cx="3556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10B981"/>
                </a:solidFill>
                <a:latin typeface="Noto Sans SC"/>
                <a:ea typeface="Noto Sans SC"/>
                <a:cs typeface="Noto Sans SC"/>
                <a:sym typeface="Noto Sans SC"/>
              </a:rPr>
              <a:t>Table: member_package</a:t>
            </a:r>
            <a:endParaRPr lang="en-US" sz="1100"/>
          </a:p>
        </p:txBody>
      </p:sp>
      <p:sp>
        <p:nvSpPr>
          <p:cNvPr name="AutoShape 15" id="15"/>
          <p:cNvSpPr/>
          <p:nvPr/>
        </p:nvSpPr>
        <p:spPr>
          <a:xfrm rot="0" flipH="false" flipV="false">
            <a:off x="2032000" y="40386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定义平台提供的所有会员等级、价格、有效期及对应的功能权限配置。</a:t>
            </a:r>
            <a:endParaRPr lang="en-US" sz="1100"/>
          </a:p>
        </p:txBody>
      </p:sp>
      <p:sp>
        <p:nvSpPr>
          <p:cNvPr name="AutoShape 16" id="16"/>
          <p:cNvSpPr/>
          <p:nvPr/>
        </p:nvSpPr>
        <p:spPr>
          <a:xfrm rot="0" flipH="false" flipV="false">
            <a:off x="762000" y="4826000"/>
            <a:ext cx="5207000" cy="1397000"/>
          </a:xfrm>
          <a:prstGeom prst="roundRect">
            <a:avLst>
              <a:gd name="adj" fmla="val 10909"/>
            </a:avLst>
          </a:prstGeom>
          <a:solidFill>
            <a:srgbClr val="FFFFFF">
              <a:alpha val="95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16000" y="5143500"/>
            <a:ext cx="762000" cy="762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219200" y="5346700"/>
            <a:ext cx="355600" cy="355600"/>
          </a:xfrm>
          <a:prstGeom prst="rect">
            <a:avLst/>
          </a:prstGeom>
        </p:spPr>
      </p:pic>
      <p:sp>
        <p:nvSpPr>
          <p:cNvPr name="AutoShape 19" id="19"/>
          <p:cNvSpPr/>
          <p:nvPr/>
        </p:nvSpPr>
        <p:spPr>
          <a:xfrm rot="0" flipH="false" flipV="false">
            <a:off x="2032000" y="5016500"/>
            <a:ext cx="3556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用户会员关联表</a:t>
            </a:r>
            <a:endParaRPr lang="en-US" sz="1100"/>
          </a:p>
        </p:txBody>
      </p:sp>
      <p:sp>
        <p:nvSpPr>
          <p:cNvPr name="AutoShape 20" id="20"/>
          <p:cNvSpPr/>
          <p:nvPr/>
        </p:nvSpPr>
        <p:spPr>
          <a:xfrm rot="0" flipH="false" flipV="false">
            <a:off x="2032000" y="5372100"/>
            <a:ext cx="3556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10B981"/>
                </a:solidFill>
                <a:latin typeface="Noto Sans SC"/>
                <a:ea typeface="Noto Sans SC"/>
                <a:cs typeface="Noto Sans SC"/>
                <a:sym typeface="Noto Sans SC"/>
              </a:rPr>
              <a:t>Table: user_member</a:t>
            </a:r>
            <a:endParaRPr lang="en-US" sz="1100"/>
          </a:p>
        </p:txBody>
      </p:sp>
      <p:sp>
        <p:nvSpPr>
          <p:cNvPr name="AutoShape 21" id="21"/>
          <p:cNvSpPr/>
          <p:nvPr/>
        </p:nvSpPr>
        <p:spPr>
          <a:xfrm rot="0" flipH="false" flipV="false">
            <a:off x="2032000" y="56896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记录用户当前的会员开通状态、生效/过期时间，关联用户表与套餐表。</a:t>
            </a:r>
            <a:endParaRPr lang="en-US" sz="1100"/>
          </a:p>
        </p:txBody>
      </p:sp>
      <p:sp>
        <p:nvSpPr>
          <p:cNvPr name="AutoShape 22" id="22"/>
          <p:cNvSpPr/>
          <p:nvPr/>
        </p:nvSpPr>
        <p:spPr>
          <a:xfrm rot="0" flipH="false" flipV="false">
            <a:off x="6223000" y="1524000"/>
            <a:ext cx="5207000" cy="1397000"/>
          </a:xfrm>
          <a:prstGeom prst="roundRect">
            <a:avLst>
              <a:gd name="adj" fmla="val 10909"/>
            </a:avLst>
          </a:prstGeom>
          <a:solidFill>
            <a:srgbClr val="FFFFFF">
              <a:alpha val="95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477000" y="1841500"/>
            <a:ext cx="762000" cy="762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80200" y="2044700"/>
            <a:ext cx="355600" cy="355600"/>
          </a:xfrm>
          <a:prstGeom prst="rect">
            <a:avLst/>
          </a:prstGeom>
        </p:spPr>
      </p:pic>
      <p:sp>
        <p:nvSpPr>
          <p:cNvPr name="AutoShape 25" id="25"/>
          <p:cNvSpPr/>
          <p:nvPr/>
        </p:nvSpPr>
        <p:spPr>
          <a:xfrm rot="0" flipH="false" flipV="false">
            <a:off x="7493000" y="1714500"/>
            <a:ext cx="3556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购买订单记录表</a:t>
            </a:r>
            <a:endParaRPr lang="en-US" sz="1100"/>
          </a:p>
        </p:txBody>
      </p:sp>
      <p:sp>
        <p:nvSpPr>
          <p:cNvPr name="AutoShape 26" id="26"/>
          <p:cNvSpPr/>
          <p:nvPr/>
        </p:nvSpPr>
        <p:spPr>
          <a:xfrm rot="0" flipH="false" flipV="false">
            <a:off x="7493000" y="2070100"/>
            <a:ext cx="3556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10B981"/>
                </a:solidFill>
                <a:latin typeface="Noto Sans SC"/>
                <a:ea typeface="Noto Sans SC"/>
                <a:cs typeface="Noto Sans SC"/>
                <a:sym typeface="Noto Sans SC"/>
              </a:rPr>
              <a:t>Table: order_info</a:t>
            </a:r>
            <a:endParaRPr lang="en-US" sz="1100"/>
          </a:p>
        </p:txBody>
      </p:sp>
      <p:sp>
        <p:nvSpPr>
          <p:cNvPr name="AutoShape 27" id="27"/>
          <p:cNvSpPr/>
          <p:nvPr/>
        </p:nvSpPr>
        <p:spPr>
          <a:xfrm rot="0" flipH="false" flipV="false">
            <a:off x="7493000" y="23876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存储用户购买会员或服务的交易流水，包含订单金额、支付状态等信息。</a:t>
            </a:r>
            <a:endParaRPr lang="en-US" sz="1100"/>
          </a:p>
        </p:txBody>
      </p:sp>
      <p:sp>
        <p:nvSpPr>
          <p:cNvPr name="AutoShape 28" id="28"/>
          <p:cNvSpPr/>
          <p:nvPr/>
        </p:nvSpPr>
        <p:spPr>
          <a:xfrm rot="0" flipH="false" flipV="false">
            <a:off x="6223000" y="3175000"/>
            <a:ext cx="5207000" cy="1397000"/>
          </a:xfrm>
          <a:prstGeom prst="roundRect">
            <a:avLst>
              <a:gd name="adj" fmla="val 10909"/>
            </a:avLst>
          </a:prstGeom>
          <a:solidFill>
            <a:srgbClr val="FFFFFF">
              <a:alpha val="95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477000" y="3492500"/>
            <a:ext cx="762000" cy="762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80200" y="3695700"/>
            <a:ext cx="355600" cy="355600"/>
          </a:xfrm>
          <a:prstGeom prst="rect">
            <a:avLst/>
          </a:prstGeom>
        </p:spPr>
      </p:pic>
      <p:sp>
        <p:nvSpPr>
          <p:cNvPr name="AutoShape 31" id="31"/>
          <p:cNvSpPr/>
          <p:nvPr/>
        </p:nvSpPr>
        <p:spPr>
          <a:xfrm rot="0" flipH="false" flipV="false">
            <a:off x="7493000" y="3365500"/>
            <a:ext cx="3556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AI 对话历史表</a:t>
            </a:r>
            <a:endParaRPr lang="en-US" sz="1100"/>
          </a:p>
        </p:txBody>
      </p:sp>
      <p:sp>
        <p:nvSpPr>
          <p:cNvPr name="AutoShape 32" id="32"/>
          <p:cNvSpPr/>
          <p:nvPr/>
        </p:nvSpPr>
        <p:spPr>
          <a:xfrm rot="0" flipH="false" flipV="false">
            <a:off x="7493000" y="3721100"/>
            <a:ext cx="3556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10B981"/>
                </a:solidFill>
                <a:latin typeface="Noto Sans SC"/>
                <a:ea typeface="Noto Sans SC"/>
                <a:cs typeface="Noto Sans SC"/>
                <a:sym typeface="Noto Sans SC"/>
              </a:rPr>
              <a:t>Table: ai_conversation</a:t>
            </a:r>
            <a:endParaRPr lang="en-US" sz="1100"/>
          </a:p>
        </p:txBody>
      </p:sp>
      <p:sp>
        <p:nvSpPr>
          <p:cNvPr name="AutoShape 33" id="33"/>
          <p:cNvSpPr/>
          <p:nvPr/>
        </p:nvSpPr>
        <p:spPr>
          <a:xfrm rot="0" flipH="false" flipV="false">
            <a:off x="7493000" y="40386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完整存储用户与AI助手的多轮交互上下文，支持历史记录回溯与数据分析。</a:t>
            </a:r>
            <a:endParaRPr lang="en-US" sz="1100"/>
          </a:p>
        </p:txBody>
      </p:sp>
      <p:sp>
        <p:nvSpPr>
          <p:cNvPr name="AutoShape 34" id="34"/>
          <p:cNvSpPr/>
          <p:nvPr/>
        </p:nvSpPr>
        <p:spPr>
          <a:xfrm rot="0" flipH="false" flipV="false">
            <a:off x="6223000" y="4826000"/>
            <a:ext cx="5207000" cy="1397000"/>
          </a:xfrm>
          <a:prstGeom prst="roundRect">
            <a:avLst>
              <a:gd name="adj" fmla="val 10909"/>
            </a:avLst>
          </a:prstGeom>
          <a:solidFill>
            <a:srgbClr val="FFFFFF">
              <a:alpha val="95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6477000" y="5143500"/>
            <a:ext cx="762000" cy="762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6" id="3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680200" y="5346700"/>
            <a:ext cx="355600" cy="355600"/>
          </a:xfrm>
          <a:prstGeom prst="rect">
            <a:avLst/>
          </a:prstGeom>
        </p:spPr>
      </p:pic>
      <p:sp>
        <p:nvSpPr>
          <p:cNvPr name="AutoShape 37" id="37"/>
          <p:cNvSpPr/>
          <p:nvPr/>
        </p:nvSpPr>
        <p:spPr>
          <a:xfrm rot="0" flipH="false" flipV="false">
            <a:off x="7493000" y="5016500"/>
            <a:ext cx="3556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用户使用限制表</a:t>
            </a:r>
            <a:endParaRPr lang="en-US" sz="1100"/>
          </a:p>
        </p:txBody>
      </p:sp>
      <p:sp>
        <p:nvSpPr>
          <p:cNvPr name="AutoShape 38" id="38"/>
          <p:cNvSpPr/>
          <p:nvPr/>
        </p:nvSpPr>
        <p:spPr>
          <a:xfrm rot="0" flipH="false" flipV="false">
            <a:off x="7493000" y="5372100"/>
            <a:ext cx="3556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10B981"/>
                </a:solidFill>
                <a:latin typeface="Noto Sans SC"/>
                <a:ea typeface="Noto Sans SC"/>
                <a:cs typeface="Noto Sans SC"/>
                <a:sym typeface="Noto Sans SC"/>
              </a:rPr>
              <a:t>Table: user_daily_usage</a:t>
            </a:r>
            <a:endParaRPr lang="en-US" sz="1100"/>
          </a:p>
        </p:txBody>
      </p:sp>
      <p:sp>
        <p:nvSpPr>
          <p:cNvPr name="AutoShape 39" id="39"/>
          <p:cNvSpPr/>
          <p:nvPr/>
        </p:nvSpPr>
        <p:spPr>
          <a:xfrm rot="0" flipH="false" flipV="false">
            <a:off x="7493000" y="56896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按自然日统计用户对AI功能的调用次数，配合会员等级实现精准的限流控制。</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05 核心接口与技术亮点</a:t>
            </a:r>
            <a:endParaRPr lang="en-US" sz="1100"/>
          </a:p>
        </p:txBody>
      </p:sp>
      <p:sp>
        <p:nvSpPr>
          <p:cNvPr name="AutoShape 4" id="4"/>
          <p:cNvSpPr/>
          <p:nvPr/>
        </p:nvSpPr>
        <p:spPr>
          <a:xfrm rot="0" flipH="false" flipV="false">
            <a:off x="762000" y="1397000"/>
            <a:ext cx="3302000" cy="4826000"/>
          </a:xfrm>
          <a:prstGeom prst="roundRect">
            <a:avLst>
              <a:gd name="adj" fmla="val 4615"/>
            </a:avLst>
          </a:prstGeom>
          <a:solidFill>
            <a:srgbClr val="FFFFFF">
              <a:alpha val="100000"/>
            </a:srgbClr>
          </a:solidFill>
          <a:ln w="25400" cmpd="sng" cap="flat">
            <a:noFill/>
            <a:prstDash val="solid"/>
            <a:round/>
          </a:ln>
          <a:effectLst>
            <a:outerShdw dir="27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651000"/>
            <a:ext cx="711200" cy="711200"/>
          </a:xfrm>
          <a:prstGeom prst="ellipse">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168400" y="1803400"/>
            <a:ext cx="406400" cy="406400"/>
          </a:xfrm>
          <a:prstGeom prst="rect">
            <a:avLst/>
          </a:prstGeom>
        </p:spPr>
      </p:pic>
      <p:sp>
        <p:nvSpPr>
          <p:cNvPr name="AutoShape 7" id="7"/>
          <p:cNvSpPr/>
          <p:nvPr/>
        </p:nvSpPr>
        <p:spPr>
          <a:xfrm rot="0" flipH="false" flipV="false">
            <a:off x="1905000" y="1752600"/>
            <a:ext cx="190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用户登录</a:t>
            </a:r>
            <a:endParaRPr lang="en-US" sz="1100"/>
          </a:p>
        </p:txBody>
      </p:sp>
      <p:sp>
        <p:nvSpPr>
          <p:cNvPr name="AutoShape 8" id="8"/>
          <p:cNvSpPr/>
          <p:nvPr/>
        </p:nvSpPr>
        <p:spPr>
          <a:xfrm rot="0" flipH="false" flipV="false">
            <a:off x="1016000" y="2540000"/>
            <a:ext cx="635000" cy="304800"/>
          </a:xfrm>
          <a:prstGeom prst="roundRect">
            <a:avLst>
              <a:gd name="adj" fmla="val 16666"/>
            </a:avLst>
          </a:prstGeom>
          <a:solidFill>
            <a:srgbClr val="10B981">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FFFFFF"/>
                </a:solidFill>
                <a:latin typeface="Noto Sans SC"/>
                <a:ea typeface="Noto Sans SC"/>
                <a:cs typeface="Noto Sans SC"/>
                <a:sym typeface="Noto Sans SC"/>
              </a:rPr>
              <a:t>POST</a:t>
            </a:r>
            <a:endParaRPr lang="en-US" sz="1100"/>
          </a:p>
        </p:txBody>
      </p:sp>
      <p:sp>
        <p:nvSpPr>
          <p:cNvPr name="AutoShape 9" id="9"/>
          <p:cNvSpPr/>
          <p:nvPr/>
        </p:nvSpPr>
        <p:spPr>
          <a:xfrm rot="0" flipH="false" flipV="false">
            <a:off x="1778000" y="25400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374151"/>
                </a:solidFill>
                <a:latin typeface="Noto Sans SC"/>
                <a:ea typeface="Noto Sans SC"/>
                <a:cs typeface="Noto Sans SC"/>
                <a:sym typeface="Noto Sans SC"/>
              </a:rPr>
              <a:t>/api/auth/login</a:t>
            </a:r>
            <a:endParaRPr lang="en-US" sz="1100"/>
          </a:p>
        </p:txBody>
      </p:sp>
      <p:sp>
        <p:nvSpPr>
          <p:cNvPr name="AutoShape 10" id="10"/>
          <p:cNvSpPr/>
          <p:nvPr/>
        </p:nvSpPr>
        <p:spPr>
          <a:xfrm rot="0" flipH="false" flipV="false">
            <a:off x="1016000" y="3111500"/>
            <a:ext cx="2794000" cy="1079500"/>
          </a:xfrm>
          <a:prstGeom prst="roundRect">
            <a:avLst>
              <a:gd name="adj" fmla="val 9411"/>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143000" y="3175000"/>
            <a:ext cx="2540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10B981"/>
                </a:solidFill>
                <a:latin typeface="Noto Sans SC"/>
                <a:ea typeface="Noto Sans SC"/>
                <a:cs typeface="Noto Sans SC"/>
                <a:sym typeface="Noto Sans SC"/>
              </a:rPr>
              <a:t>请求参数 (JSON)</a:t>
            </a:r>
            <a:endParaRPr lang="en-US" sz="1100"/>
          </a:p>
        </p:txBody>
      </p:sp>
      <p:sp>
        <p:nvSpPr>
          <p:cNvPr name="AutoShape 12" id="12"/>
          <p:cNvSpPr/>
          <p:nvPr/>
        </p:nvSpPr>
        <p:spPr>
          <a:xfrm rot="0" flipH="false" flipV="false">
            <a:off x="1143000" y="3492500"/>
            <a:ext cx="254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000">
                <a:solidFill>
                  <a:srgbClr val="4B5563"/>
                </a:solidFill>
                <a:latin typeface="Noto Sans SC"/>
                <a:ea typeface="Noto Sans SC"/>
                <a:cs typeface="Noto Sans SC"/>
                <a:sym typeface="Noto Sans SC"/>
              </a:rPr>
              <a:t>{ "username": "string",</a:t>
            </a:r>
            <a:r>
              <a:rPr lang="en-US" b="false" i="false" strike="noStrike" u="none" sz="1000">
                <a:solidFill>
                  <a:srgbClr val="4B5563"/>
                </a:solidFill>
                <a:latin typeface="Noto Sans SC"/>
                <a:ea typeface="Noto Sans SC"/>
                <a:cs typeface="Noto Sans SC"/>
                <a:sym typeface="Noto Sans SC"/>
              </a:rPr>
              <a:t/>
            </a:r>
            <a:br>
              <a:rPr lang="en-US" b="false" i="false" strike="noStrike" u="none" sz="1000">
                <a:solidFill>
                  <a:srgbClr val="4B5563"/>
                </a:solidFill>
                <a:latin typeface="Noto Sans SC"/>
                <a:ea typeface="Noto Sans SC"/>
                <a:cs typeface="Noto Sans SC"/>
                <a:sym typeface="Noto Sans SC"/>
              </a:rPr>
            </a:br>
            <a:r>
              <a:rPr lang="en-US" b="false" i="false" strike="noStrike" u="none" sz="1000">
                <a:solidFill>
                  <a:srgbClr val="4B5563"/>
                </a:solidFill>
                <a:latin typeface="Noto Sans SC"/>
                <a:ea typeface="Noto Sans SC"/>
                <a:cs typeface="Noto Sans SC"/>
                <a:sym typeface="Noto Sans SC"/>
              </a:rPr>
              <a:t>"password": "string" }</a:t>
            </a:r>
            <a:endParaRPr lang="en-US" sz="1100"/>
          </a:p>
        </p:txBody>
      </p:sp>
      <p:sp>
        <p:nvSpPr>
          <p:cNvPr name="AutoShape 13" id="13"/>
          <p:cNvSpPr/>
          <p:nvPr/>
        </p:nvSpPr>
        <p:spPr>
          <a:xfrm rot="0" flipH="false" flipV="false">
            <a:off x="1016000" y="4445000"/>
            <a:ext cx="2794000" cy="1206500"/>
          </a:xfrm>
          <a:prstGeom prst="roundRect">
            <a:avLst>
              <a:gd name="adj" fmla="val 8421"/>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143000" y="4508500"/>
            <a:ext cx="2540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10B981"/>
                </a:solidFill>
                <a:latin typeface="Noto Sans SC"/>
                <a:ea typeface="Noto Sans SC"/>
                <a:cs typeface="Noto Sans SC"/>
                <a:sym typeface="Noto Sans SC"/>
              </a:rPr>
              <a:t>响应结果 (JSON)</a:t>
            </a:r>
            <a:endParaRPr lang="en-US" sz="1100"/>
          </a:p>
        </p:txBody>
      </p:sp>
      <p:sp>
        <p:nvSpPr>
          <p:cNvPr name="AutoShape 15" id="15"/>
          <p:cNvSpPr/>
          <p:nvPr/>
        </p:nvSpPr>
        <p:spPr>
          <a:xfrm rot="0" flipH="false" flipV="false">
            <a:off x="1143000" y="48260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000">
                <a:solidFill>
                  <a:srgbClr val="4B5563"/>
                </a:solidFill>
                <a:latin typeface="Noto Sans SC"/>
                <a:ea typeface="Noto Sans SC"/>
                <a:cs typeface="Noto Sans SC"/>
                <a:sym typeface="Noto Sans SC"/>
              </a:rPr>
              <a:t>{ "code": 200,</a:t>
            </a:r>
            <a:r>
              <a:rPr lang="en-US" b="false" i="false" strike="noStrike" u="none" sz="1000">
                <a:solidFill>
                  <a:srgbClr val="4B5563"/>
                </a:solidFill>
                <a:latin typeface="Noto Sans SC"/>
                <a:ea typeface="Noto Sans SC"/>
                <a:cs typeface="Noto Sans SC"/>
                <a:sym typeface="Noto Sans SC"/>
              </a:rPr>
              <a:t/>
            </a:r>
            <a:br>
              <a:rPr lang="en-US" b="false" i="false" strike="noStrike" u="none" sz="1000">
                <a:solidFill>
                  <a:srgbClr val="4B5563"/>
                </a:solidFill>
                <a:latin typeface="Noto Sans SC"/>
                <a:ea typeface="Noto Sans SC"/>
                <a:cs typeface="Noto Sans SC"/>
                <a:sym typeface="Noto Sans SC"/>
              </a:rPr>
            </a:br>
            <a:r>
              <a:rPr lang="en-US" b="false" i="false" strike="noStrike" u="none" sz="1000">
                <a:solidFill>
                  <a:srgbClr val="4B5563"/>
                </a:solidFill>
                <a:latin typeface="Noto Sans SC"/>
                <a:ea typeface="Noto Sans SC"/>
                <a:cs typeface="Noto Sans SC"/>
                <a:sym typeface="Noto Sans SC"/>
              </a:rPr>
              <a:t>"data": { "token": "JWT..." } }</a:t>
            </a:r>
            <a:endParaRPr lang="en-US" sz="1100"/>
          </a:p>
        </p:txBody>
      </p:sp>
      <p:sp>
        <p:nvSpPr>
          <p:cNvPr name="AutoShape 16" id="16"/>
          <p:cNvSpPr/>
          <p:nvPr/>
        </p:nvSpPr>
        <p:spPr>
          <a:xfrm rot="0" flipH="false" flipV="false">
            <a:off x="4445000" y="1397000"/>
            <a:ext cx="3302000" cy="4826000"/>
          </a:xfrm>
          <a:prstGeom prst="roundRect">
            <a:avLst>
              <a:gd name="adj" fmla="val 4615"/>
            </a:avLst>
          </a:prstGeom>
          <a:solidFill>
            <a:srgbClr val="FFFFFF">
              <a:alpha val="100000"/>
            </a:srgbClr>
          </a:solidFill>
          <a:ln w="25400" cmpd="sng" cap="flat">
            <a:noFill/>
            <a:prstDash val="solid"/>
            <a:round/>
          </a:ln>
          <a:effectLst>
            <a:outerShdw dir="27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699000" y="1651000"/>
            <a:ext cx="711200" cy="711200"/>
          </a:xfrm>
          <a:prstGeom prst="ellipse">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851400" y="1803400"/>
            <a:ext cx="406400" cy="406400"/>
          </a:xfrm>
          <a:prstGeom prst="rect">
            <a:avLst/>
          </a:prstGeom>
        </p:spPr>
      </p:pic>
      <p:sp>
        <p:nvSpPr>
          <p:cNvPr name="AutoShape 19" id="19"/>
          <p:cNvSpPr/>
          <p:nvPr/>
        </p:nvSpPr>
        <p:spPr>
          <a:xfrm rot="0" flipH="false" flipV="false">
            <a:off x="5588000" y="1752600"/>
            <a:ext cx="190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获取用户信息</a:t>
            </a:r>
            <a:endParaRPr lang="en-US" sz="1100"/>
          </a:p>
        </p:txBody>
      </p:sp>
      <p:sp>
        <p:nvSpPr>
          <p:cNvPr name="AutoShape 20" id="20"/>
          <p:cNvSpPr/>
          <p:nvPr/>
        </p:nvSpPr>
        <p:spPr>
          <a:xfrm rot="0" flipH="false" flipV="false">
            <a:off x="4699000" y="2540000"/>
            <a:ext cx="635000" cy="304800"/>
          </a:xfrm>
          <a:prstGeom prst="roundRect">
            <a:avLst>
              <a:gd name="adj" fmla="val 16666"/>
            </a:avLst>
          </a:prstGeom>
          <a:solidFill>
            <a:srgbClr val="3B82F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FFFFFF"/>
                </a:solidFill>
                <a:latin typeface="Noto Sans SC"/>
                <a:ea typeface="Noto Sans SC"/>
                <a:cs typeface="Noto Sans SC"/>
                <a:sym typeface="Noto Sans SC"/>
              </a:rPr>
              <a:t>GET</a:t>
            </a:r>
            <a:endParaRPr lang="en-US" sz="1100"/>
          </a:p>
        </p:txBody>
      </p:sp>
      <p:sp>
        <p:nvSpPr>
          <p:cNvPr name="AutoShape 21" id="21"/>
          <p:cNvSpPr/>
          <p:nvPr/>
        </p:nvSpPr>
        <p:spPr>
          <a:xfrm rot="0" flipH="false" flipV="false">
            <a:off x="5461000" y="25400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374151"/>
                </a:solidFill>
                <a:latin typeface="Noto Sans SC"/>
                <a:ea typeface="Noto Sans SC"/>
                <a:cs typeface="Noto Sans SC"/>
                <a:sym typeface="Noto Sans SC"/>
              </a:rPr>
              <a:t>/api/user/info</a:t>
            </a:r>
            <a:endParaRPr lang="en-US" sz="1100"/>
          </a:p>
        </p:txBody>
      </p:sp>
      <p:sp>
        <p:nvSpPr>
          <p:cNvPr name="AutoShape 22" id="22"/>
          <p:cNvSpPr/>
          <p:nvPr/>
        </p:nvSpPr>
        <p:spPr>
          <a:xfrm rot="0" flipH="false" flipV="false">
            <a:off x="4699000" y="3111500"/>
            <a:ext cx="2794000" cy="1079500"/>
          </a:xfrm>
          <a:prstGeom prst="roundRect">
            <a:avLst>
              <a:gd name="adj" fmla="val 9411"/>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4826000" y="3175000"/>
            <a:ext cx="2540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3B82F6"/>
                </a:solidFill>
                <a:latin typeface="Noto Sans SC"/>
                <a:ea typeface="Noto Sans SC"/>
                <a:cs typeface="Noto Sans SC"/>
                <a:sym typeface="Noto Sans SC"/>
              </a:rPr>
              <a:t>请求头 (Headers)</a:t>
            </a:r>
            <a:endParaRPr lang="en-US" sz="1100"/>
          </a:p>
        </p:txBody>
      </p:sp>
      <p:sp>
        <p:nvSpPr>
          <p:cNvPr name="AutoShape 24" id="24"/>
          <p:cNvSpPr/>
          <p:nvPr/>
        </p:nvSpPr>
        <p:spPr>
          <a:xfrm rot="0" flipH="false" flipV="false">
            <a:off x="4826000" y="3492500"/>
            <a:ext cx="254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000">
                <a:solidFill>
                  <a:srgbClr val="4B5563"/>
                </a:solidFill>
                <a:latin typeface="Noto Sans SC"/>
                <a:ea typeface="Noto Sans SC"/>
                <a:cs typeface="Noto Sans SC"/>
                <a:sym typeface="Noto Sans SC"/>
              </a:rPr>
              <a:t>Authorization: Bearer</a:t>
            </a:r>
            <a:r>
              <a:rPr lang="en-US" b="false" i="false" strike="noStrike" u="none" sz="1000">
                <a:solidFill>
                  <a:srgbClr val="4B5563"/>
                </a:solidFill>
                <a:latin typeface="Noto Sans SC"/>
                <a:ea typeface="Noto Sans SC"/>
                <a:cs typeface="Noto Sans SC"/>
                <a:sym typeface="Noto Sans SC"/>
              </a:rPr>
              <a:t/>
            </a:r>
            <a:br>
              <a:rPr lang="en-US" b="false" i="false" strike="noStrike" u="none" sz="1000">
                <a:solidFill>
                  <a:srgbClr val="4B5563"/>
                </a:solidFill>
                <a:latin typeface="Noto Sans SC"/>
                <a:ea typeface="Noto Sans SC"/>
                <a:cs typeface="Noto Sans SC"/>
                <a:sym typeface="Noto Sans SC"/>
              </a:rPr>
            </a:br>
            <a:r>
              <a:rPr lang="en-US" b="false" i="false" strike="noStrike" u="none" sz="1000">
                <a:solidFill>
                  <a:srgbClr val="4B5563"/>
                </a:solidFill>
                <a:latin typeface="Noto Sans SC"/>
                <a:ea typeface="Noto Sans SC"/>
                <a:cs typeface="Noto Sans SC"/>
                <a:sym typeface="Noto Sans SC"/>
              </a:rPr>
              <a:t>{JWT_TOKEN}</a:t>
            </a:r>
            <a:endParaRPr lang="en-US" sz="1100"/>
          </a:p>
        </p:txBody>
      </p:sp>
      <p:sp>
        <p:nvSpPr>
          <p:cNvPr name="AutoShape 25" id="25"/>
          <p:cNvSpPr/>
          <p:nvPr/>
        </p:nvSpPr>
        <p:spPr>
          <a:xfrm rot="0" flipH="false" flipV="false">
            <a:off x="4699000" y="4445000"/>
            <a:ext cx="2794000" cy="1206500"/>
          </a:xfrm>
          <a:prstGeom prst="roundRect">
            <a:avLst>
              <a:gd name="adj" fmla="val 8421"/>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4826000" y="4508500"/>
            <a:ext cx="2540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3B82F6"/>
                </a:solidFill>
                <a:latin typeface="Noto Sans SC"/>
                <a:ea typeface="Noto Sans SC"/>
                <a:cs typeface="Noto Sans SC"/>
                <a:sym typeface="Noto Sans SC"/>
              </a:rPr>
              <a:t>响应结果 (JSON)</a:t>
            </a:r>
            <a:endParaRPr lang="en-US" sz="1100"/>
          </a:p>
        </p:txBody>
      </p:sp>
      <p:sp>
        <p:nvSpPr>
          <p:cNvPr name="AutoShape 27" id="27"/>
          <p:cNvSpPr/>
          <p:nvPr/>
        </p:nvSpPr>
        <p:spPr>
          <a:xfrm rot="0" flipH="false" flipV="false">
            <a:off x="4826000" y="48260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000">
                <a:solidFill>
                  <a:srgbClr val="4B5563"/>
                </a:solidFill>
                <a:latin typeface="Noto Sans SC"/>
                <a:ea typeface="Noto Sans SC"/>
                <a:cs typeface="Noto Sans SC"/>
                <a:sym typeface="Noto Sans SC"/>
              </a:rPr>
              <a:t>{ "code": 200,</a:t>
            </a:r>
            <a:r>
              <a:rPr lang="en-US" b="false" i="false" strike="noStrike" u="none" sz="1000">
                <a:solidFill>
                  <a:srgbClr val="4B5563"/>
                </a:solidFill>
                <a:latin typeface="Noto Sans SC"/>
                <a:ea typeface="Noto Sans SC"/>
                <a:cs typeface="Noto Sans SC"/>
                <a:sym typeface="Noto Sans SC"/>
              </a:rPr>
              <a:t/>
            </a:r>
            <a:br>
              <a:rPr lang="en-US" b="false" i="false" strike="noStrike" u="none" sz="1000">
                <a:solidFill>
                  <a:srgbClr val="4B5563"/>
                </a:solidFill>
                <a:latin typeface="Noto Sans SC"/>
                <a:ea typeface="Noto Sans SC"/>
                <a:cs typeface="Noto Sans SC"/>
                <a:sym typeface="Noto Sans SC"/>
              </a:rPr>
            </a:br>
            <a:r>
              <a:rPr lang="en-US" b="false" i="false" strike="noStrike" u="none" sz="1000">
                <a:solidFill>
                  <a:srgbClr val="4B5563"/>
                </a:solidFill>
                <a:latin typeface="Noto Sans SC"/>
                <a:ea typeface="Noto Sans SC"/>
                <a:cs typeface="Noto Sans SC"/>
                <a:sym typeface="Noto Sans SC"/>
              </a:rPr>
              <a:t>"data": { "id": 123, "name": "张三" } }</a:t>
            </a:r>
            <a:endParaRPr lang="en-US" sz="1100"/>
          </a:p>
        </p:txBody>
      </p:sp>
      <p:sp>
        <p:nvSpPr>
          <p:cNvPr name="AutoShape 28" id="28"/>
          <p:cNvSpPr/>
          <p:nvPr/>
        </p:nvSpPr>
        <p:spPr>
          <a:xfrm rot="0" flipH="false" flipV="false">
            <a:off x="8128000" y="1397000"/>
            <a:ext cx="3302000" cy="4826000"/>
          </a:xfrm>
          <a:prstGeom prst="roundRect">
            <a:avLst>
              <a:gd name="adj" fmla="val 4615"/>
            </a:avLst>
          </a:prstGeom>
          <a:solidFill>
            <a:srgbClr val="FFFFFF">
              <a:alpha val="100000"/>
            </a:srgbClr>
          </a:solidFill>
          <a:ln w="25400" cmpd="sng" cap="flat">
            <a:noFill/>
            <a:prstDash val="solid"/>
            <a:round/>
          </a:ln>
          <a:effectLst>
            <a:outerShdw dir="27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382000" y="1651000"/>
            <a:ext cx="711200" cy="711200"/>
          </a:xfrm>
          <a:prstGeom prst="ellipse">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534400" y="1803400"/>
            <a:ext cx="406400" cy="406400"/>
          </a:xfrm>
          <a:prstGeom prst="rect">
            <a:avLst/>
          </a:prstGeom>
        </p:spPr>
      </p:pic>
      <p:sp>
        <p:nvSpPr>
          <p:cNvPr name="AutoShape 31" id="31"/>
          <p:cNvSpPr/>
          <p:nvPr/>
        </p:nvSpPr>
        <p:spPr>
          <a:xfrm rot="0" flipH="false" flipV="false">
            <a:off x="9271000" y="1752600"/>
            <a:ext cx="190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生成AI文案</a:t>
            </a:r>
            <a:endParaRPr lang="en-US" sz="1100"/>
          </a:p>
        </p:txBody>
      </p:sp>
      <p:sp>
        <p:nvSpPr>
          <p:cNvPr name="AutoShape 32" id="32"/>
          <p:cNvSpPr/>
          <p:nvPr/>
        </p:nvSpPr>
        <p:spPr>
          <a:xfrm rot="0" flipH="false" flipV="false">
            <a:off x="8382000" y="2540000"/>
            <a:ext cx="635000" cy="304800"/>
          </a:xfrm>
          <a:prstGeom prst="roundRect">
            <a:avLst>
              <a:gd name="adj" fmla="val 16666"/>
            </a:avLst>
          </a:prstGeom>
          <a:solidFill>
            <a:srgbClr val="10B981">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FFFFFF"/>
                </a:solidFill>
                <a:latin typeface="Noto Sans SC"/>
                <a:ea typeface="Noto Sans SC"/>
                <a:cs typeface="Noto Sans SC"/>
                <a:sym typeface="Noto Sans SC"/>
              </a:rPr>
              <a:t>POST</a:t>
            </a:r>
            <a:endParaRPr lang="en-US" sz="1100"/>
          </a:p>
        </p:txBody>
      </p:sp>
      <p:sp>
        <p:nvSpPr>
          <p:cNvPr name="AutoShape 33" id="33"/>
          <p:cNvSpPr/>
          <p:nvPr/>
        </p:nvSpPr>
        <p:spPr>
          <a:xfrm rot="0" flipH="false" flipV="false">
            <a:off x="9144000" y="25400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374151"/>
                </a:solidFill>
                <a:latin typeface="Noto Sans SC"/>
                <a:ea typeface="Noto Sans SC"/>
                <a:cs typeface="Noto Sans SC"/>
                <a:sym typeface="Noto Sans SC"/>
              </a:rPr>
              <a:t>/api/ai/generate</a:t>
            </a:r>
            <a:endParaRPr lang="en-US" sz="1100"/>
          </a:p>
        </p:txBody>
      </p:sp>
      <p:sp>
        <p:nvSpPr>
          <p:cNvPr name="AutoShape 34" id="34"/>
          <p:cNvSpPr/>
          <p:nvPr/>
        </p:nvSpPr>
        <p:spPr>
          <a:xfrm rot="0" flipH="false" flipV="false">
            <a:off x="8382000" y="3111500"/>
            <a:ext cx="2794000" cy="1079500"/>
          </a:xfrm>
          <a:prstGeom prst="roundRect">
            <a:avLst>
              <a:gd name="adj" fmla="val 9411"/>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8509000" y="3175000"/>
            <a:ext cx="2540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10B981"/>
                </a:solidFill>
                <a:latin typeface="Noto Sans SC"/>
                <a:ea typeface="Noto Sans SC"/>
                <a:cs typeface="Noto Sans SC"/>
                <a:sym typeface="Noto Sans SC"/>
              </a:rPr>
              <a:t>请求参数 (JSON)</a:t>
            </a:r>
            <a:endParaRPr lang="en-US" sz="1100"/>
          </a:p>
        </p:txBody>
      </p:sp>
      <p:sp>
        <p:nvSpPr>
          <p:cNvPr name="AutoShape 36" id="36"/>
          <p:cNvSpPr/>
          <p:nvPr/>
        </p:nvSpPr>
        <p:spPr>
          <a:xfrm rot="0" flipH="false" flipV="false">
            <a:off x="8509000" y="3492500"/>
            <a:ext cx="254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000">
                <a:solidFill>
                  <a:srgbClr val="4B5563"/>
                </a:solidFill>
                <a:latin typeface="Noto Sans SC"/>
                <a:ea typeface="Noto Sans SC"/>
                <a:cs typeface="Noto Sans SC"/>
                <a:sym typeface="Noto Sans SC"/>
              </a:rPr>
              <a:t>{ "prompt": "为新款智能手表</a:t>
            </a:r>
            <a:r>
              <a:rPr lang="en-US" b="false" i="false" strike="noStrike" u="none" sz="1000">
                <a:solidFill>
                  <a:srgbClr val="4B5563"/>
                </a:solidFill>
                <a:latin typeface="Noto Sans SC"/>
                <a:ea typeface="Noto Sans SC"/>
                <a:cs typeface="Noto Sans SC"/>
                <a:sym typeface="Noto Sans SC"/>
              </a:rPr>
              <a:t/>
            </a:r>
            <a:br>
              <a:rPr lang="en-US" b="false" i="false" strike="noStrike" u="none" sz="1000">
                <a:solidFill>
                  <a:srgbClr val="4B5563"/>
                </a:solidFill>
                <a:latin typeface="Noto Sans SC"/>
                <a:ea typeface="Noto Sans SC"/>
                <a:cs typeface="Noto Sans SC"/>
                <a:sym typeface="Noto Sans SC"/>
              </a:rPr>
            </a:br>
            <a:r>
              <a:rPr lang="en-US" b="false" i="false" strike="noStrike" u="none" sz="1000">
                <a:solidFill>
                  <a:srgbClr val="4B5563"/>
                </a:solidFill>
                <a:latin typeface="Noto Sans SC"/>
                <a:ea typeface="Noto Sans SC"/>
                <a:cs typeface="Noto Sans SC"/>
                <a:sym typeface="Noto Sans SC"/>
              </a:rPr>
              <a:t>写朋友圈文案" }</a:t>
            </a:r>
            <a:endParaRPr lang="en-US" sz="1100"/>
          </a:p>
        </p:txBody>
      </p:sp>
      <p:sp>
        <p:nvSpPr>
          <p:cNvPr name="AutoShape 37" id="37"/>
          <p:cNvSpPr/>
          <p:nvPr/>
        </p:nvSpPr>
        <p:spPr>
          <a:xfrm rot="0" flipH="false" flipV="false">
            <a:off x="8382000" y="4445000"/>
            <a:ext cx="2794000" cy="1206500"/>
          </a:xfrm>
          <a:prstGeom prst="roundRect">
            <a:avLst>
              <a:gd name="adj" fmla="val 8421"/>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8509000" y="4508500"/>
            <a:ext cx="2540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10B981"/>
                </a:solidFill>
                <a:latin typeface="Noto Sans SC"/>
                <a:ea typeface="Noto Sans SC"/>
                <a:cs typeface="Noto Sans SC"/>
                <a:sym typeface="Noto Sans SC"/>
              </a:rPr>
              <a:t>响应结果 (JSON)</a:t>
            </a:r>
            <a:endParaRPr lang="en-US" sz="1100"/>
          </a:p>
        </p:txBody>
      </p:sp>
      <p:sp>
        <p:nvSpPr>
          <p:cNvPr name="AutoShape 39" id="39"/>
          <p:cNvSpPr/>
          <p:nvPr/>
        </p:nvSpPr>
        <p:spPr>
          <a:xfrm rot="0" flipH="false" flipV="false">
            <a:off x="8509000" y="48260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000">
                <a:solidFill>
                  <a:srgbClr val="4B5563"/>
                </a:solidFill>
                <a:latin typeface="Noto Sans SC"/>
                <a:ea typeface="Noto Sans SC"/>
                <a:cs typeface="Noto Sans SC"/>
                <a:sym typeface="Noto Sans SC"/>
              </a:rPr>
              <a:t>{ "code": 200,</a:t>
            </a:r>
            <a:r>
              <a:rPr lang="en-US" b="false" i="false" strike="noStrike" u="none" sz="1000">
                <a:solidFill>
                  <a:srgbClr val="4B5563"/>
                </a:solidFill>
                <a:latin typeface="Noto Sans SC"/>
                <a:ea typeface="Noto Sans SC"/>
                <a:cs typeface="Noto Sans SC"/>
                <a:sym typeface="Noto Sans SC"/>
              </a:rPr>
              <a:t/>
            </a:r>
            <a:br>
              <a:rPr lang="en-US" b="false" i="false" strike="noStrike" u="none" sz="1000">
                <a:solidFill>
                  <a:srgbClr val="4B5563"/>
                </a:solidFill>
                <a:latin typeface="Noto Sans SC"/>
                <a:ea typeface="Noto Sans SC"/>
                <a:cs typeface="Noto Sans SC"/>
                <a:sym typeface="Noto Sans SC"/>
              </a:rPr>
            </a:br>
            <a:r>
              <a:rPr lang="en-US" b="false" i="false" strike="noStrike" u="none" sz="1000">
                <a:solidFill>
                  <a:srgbClr val="4B5563"/>
                </a:solidFill>
                <a:latin typeface="Noto Sans SC"/>
                <a:ea typeface="Noto Sans SC"/>
                <a:cs typeface="Noto Sans SC"/>
                <a:sym typeface="Noto Sans SC"/>
              </a:rPr>
              <a:t>"data": { "content": "文案内容..." } }</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05 核心接口与技术亮点</a:t>
            </a:r>
            <a:endParaRPr lang="en-US" sz="1100"/>
          </a:p>
        </p:txBody>
      </p:sp>
      <p:sp>
        <p:nvSpPr>
          <p:cNvPr name="AutoShape 4" id="4"/>
          <p:cNvSpPr/>
          <p:nvPr/>
        </p:nvSpPr>
        <p:spPr>
          <a:xfrm rot="0" flipH="false" flipV="false">
            <a:off x="1016000" y="1397000"/>
            <a:ext cx="10160000" cy="5080000"/>
          </a:xfrm>
          <a:prstGeom prst="roundRect">
            <a:avLst>
              <a:gd name="adj" fmla="val 3000"/>
            </a:avLst>
          </a:prstGeom>
          <a:solidFill>
            <a:srgbClr val="FFFFFF">
              <a:alpha val="95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核心技术亮点</a:t>
            </a:r>
            <a:r>
              <a:rPr lang="en-US" b="false" i="false" strike="noStrike" u="none" sz="14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4B5563"/>
                </a:solidFill>
                <a:latin typeface="Noto Sans SC"/>
                <a:ea typeface="Noto Sans SC"/>
                <a:cs typeface="Noto Sans SC"/>
                <a:sym typeface="Noto Sans SC"/>
              </a:rPr>
              <a:t>本项目采用前后端分离架构，基于 Spring Boot 构建稳定可靠的后端服务，结合 Redis 实现高性能缓存与限流，通过雪花算法生成分布式唯一ID，确保了系统的高可用性、高并发处理能力和数据一致性。</a:t>
            </a:r>
            <a:r>
              <a:rPr lang="en-US" b="false" i="false" strike="noStrike" u="none" sz="1400">
                <a:solidFill>
                  <a:srgbClr val="1F2329"/>
                </a:solidFill>
                <a:latin typeface="Noto Sans SC"/>
                <a:ea typeface="Noto Sans SC"/>
                <a:cs typeface="Noto Sans SC"/>
                <a:sym typeface="Noto Sans SC"/>
              </a:rPr>
              <a:t/>
            </a:r>
          </a:p>
          <a:p>
            <a:pPr algn="ctr" indent="0">
              <a:lnSpc>
                <a:spcPct val="125000"/>
              </a:lnSpc>
            </a:pPr>
            <a:r>
              <a:rPr lang="en-US" b="false" i="false" strike="noStrike" u="none" sz="1400">
                <a:solidFill>
                  <a:srgbClr val="1F2329"/>
                </a:solidFill>
                <a:latin typeface="Noto Sans SC"/>
                <a:ea typeface="Noto Sans SC"/>
                <a:cs typeface="Noto Sans SC"/>
                <a:sym typeface="Noto Sans SC"/>
              </a:rPr>
              <a:t/>
            </a:r>
          </a:p>
          <a:p>
            <a:pPr algn="ctr" indent="0">
              <a:lnSpc>
                <a:spcPct val="125000"/>
              </a:lnSpc>
            </a:pPr>
            <a:r>
              <a:rPr lang="en-US" b="true" i="false" strike="noStrike" u="none" sz="1800">
                <a:solidFill>
                  <a:srgbClr val="1F2937"/>
                </a:solidFill>
                <a:latin typeface="Noto Sans SC"/>
                <a:ea typeface="Noto Sans SC"/>
                <a:cs typeface="Noto Sans SC"/>
                <a:sym typeface="Noto Sans SC"/>
              </a:rPr>
              <a:t>핵심 기술 하이라이트</a:t>
            </a:r>
            <a:r>
              <a:rPr lang="en-US" b="false" i="false" strike="noStrike" u="none" sz="1400">
                <a:solidFill>
                  <a:srgbClr val="1F2329"/>
                </a:solidFill>
                <a:latin typeface="Noto Sans SC"/>
                <a:ea typeface="Noto Sans SC"/>
                <a:cs typeface="Noto Sans SC"/>
                <a:sym typeface="Noto Sans SC"/>
              </a:rPr>
              <a:t/>
            </a:r>
          </a:p>
          <a:p>
            <a:pPr algn="ctr" indent="0">
              <a:lnSpc>
                <a:spcPct val="125000"/>
              </a:lnSpc>
            </a:pPr>
            <a:r>
              <a:rPr lang="en-US" b="false" i="false" strike="noStrike" u="none" sz="1400">
                <a:solidFill>
                  <a:srgbClr val="4B5563"/>
                </a:solidFill>
                <a:latin typeface="Noto Sans SC"/>
                <a:ea typeface="Noto Sans SC"/>
                <a:cs typeface="Noto Sans SC"/>
                <a:sym typeface="Noto Sans SC"/>
              </a:rPr>
              <a:t>본 프로젝트는 프론트엔드와 백엔드가 분리된 아키텍처를 채택하여 Spring Boot 기반의 안정적이고 신뢰할 수 있는 백엔드 서비스를 구축했습니다. Redis와 결합하여 고성능 캐싱 및 제한 기능을 구현하고, 스노우플레이크 알고리즘을 통해 분산 환경에서의 고유 ID를 생성하여 시스템의 높은 가용성, 동시 처리 능력 및 데이터 일관성을 보장합니다.</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05 核心接口与技术亮点</a:t>
            </a:r>
            <a:endParaRPr lang="en-US" sz="1100"/>
          </a:p>
        </p:txBody>
      </p:sp>
      <p:sp>
        <p:nvSpPr>
          <p:cNvPr name="AutoShape 4" id="4"/>
          <p:cNvSpPr/>
          <p:nvPr/>
        </p:nvSpPr>
        <p:spPr>
          <a:xfrm rot="0" flipH="false" flipV="false">
            <a:off x="762000" y="1524000"/>
            <a:ext cx="5207000" cy="4699000"/>
          </a:xfrm>
          <a:prstGeom prst="roundRect">
            <a:avLst>
              <a:gd name="adj" fmla="val 4324"/>
            </a:avLst>
          </a:prstGeom>
          <a:solidFill>
            <a:srgbClr val="FFFFFF">
              <a:alpha val="95000"/>
            </a:srgbClr>
          </a:solidFill>
          <a:ln w="25400" cmpd="sng" cap="flat">
            <a:noFill/>
            <a:prstDash val="solid"/>
            <a:round/>
          </a:ln>
          <a:effectLst>
            <a:outerShdw dir="27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78000"/>
            <a:ext cx="711200" cy="711200"/>
          </a:xfrm>
          <a:prstGeom prst="roundRect">
            <a:avLst>
              <a:gd name="adj" fmla="val 50000"/>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168400" y="1930400"/>
            <a:ext cx="406400" cy="406400"/>
          </a:xfrm>
          <a:prstGeom prst="rect">
            <a:avLst/>
          </a:prstGeom>
        </p:spPr>
      </p:pic>
      <p:sp>
        <p:nvSpPr>
          <p:cNvPr name="AutoShape 7" id="7"/>
          <p:cNvSpPr/>
          <p:nvPr/>
        </p:nvSpPr>
        <p:spPr>
          <a:xfrm rot="0" flipH="false" flipV="false">
            <a:off x="1905000" y="1828800"/>
            <a:ext cx="3556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0B981"/>
                </a:solidFill>
                <a:latin typeface="Noto Sans SC"/>
                <a:ea typeface="Noto Sans SC"/>
                <a:cs typeface="Noto Sans SC"/>
                <a:sym typeface="Noto Sans SC"/>
              </a:rPr>
              <a:t>雪花算法</a:t>
            </a:r>
            <a:endParaRPr lang="en-US" sz="1100"/>
          </a:p>
        </p:txBody>
      </p:sp>
      <p:sp>
        <p:nvSpPr>
          <p:cNvPr name="AutoShape 8" id="8"/>
          <p:cNvSpPr/>
          <p:nvPr/>
        </p:nvSpPr>
        <p:spPr>
          <a:xfrm rot="0" flipH="false" flipV="false">
            <a:off x="1905000" y="23368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分布式环境下的全局唯一ID生成方案</a:t>
            </a:r>
            <a:endParaRPr lang="en-US" sz="1100"/>
          </a:p>
        </p:txBody>
      </p:sp>
      <p:cxnSp>
        <p:nvCxnSpPr>
          <p:cNvPr name="Connector 9" id="9"/>
          <p:cNvCxnSpPr/>
          <p:nvPr/>
        </p:nvCxnSpPr>
        <p:spPr>
          <a:xfrm rot="-9291" flipH="false" flipV="false">
            <a:off x="1016009" y="2851150"/>
            <a:ext cx="4699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0" id="10"/>
          <p:cNvSpPr/>
          <p:nvPr/>
        </p:nvSpPr>
        <p:spPr>
          <a:xfrm rot="0" flipH="false" flipV="false">
            <a:off x="1016000" y="3048000"/>
            <a:ext cx="4699000" cy="1016000"/>
          </a:xfrm>
          <a:prstGeom prst="roundRect">
            <a:avLst>
              <a:gd name="adj" fmla="val 10000"/>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206500" y="3238500"/>
            <a:ext cx="50800" cy="635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460500" y="31750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374151"/>
                </a:solidFill>
                <a:latin typeface="Noto Sans SC"/>
                <a:ea typeface="Noto Sans SC"/>
                <a:cs typeface="Noto Sans SC"/>
                <a:sym typeface="Noto Sans SC"/>
              </a:rPr>
              <a:t>💡 应用背景</a:t>
            </a:r>
            <a:endParaRPr lang="en-US" sz="1100"/>
          </a:p>
        </p:txBody>
      </p:sp>
      <p:sp>
        <p:nvSpPr>
          <p:cNvPr name="AutoShape 13" id="13"/>
          <p:cNvSpPr/>
          <p:nvPr/>
        </p:nvSpPr>
        <p:spPr>
          <a:xfrm rot="0" flipH="false" flipV="false">
            <a:off x="1460500" y="35306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4B5563"/>
                </a:solidFill>
                <a:latin typeface="Noto Sans SC"/>
                <a:ea typeface="Noto Sans SC"/>
                <a:cs typeface="Noto Sans SC"/>
                <a:sym typeface="Noto Sans SC"/>
              </a:rPr>
              <a:t>解决分布式微服务架构中，多节点并发写入数据时的ID冲突难题，保证数据唯一性。</a:t>
            </a:r>
            <a:endParaRPr lang="en-US" sz="1100"/>
          </a:p>
        </p:txBody>
      </p:sp>
      <p:sp>
        <p:nvSpPr>
          <p:cNvPr name="AutoShape 14" id="14"/>
          <p:cNvSpPr/>
          <p:nvPr/>
        </p:nvSpPr>
        <p:spPr>
          <a:xfrm rot="0" flipH="false" flipV="false">
            <a:off x="1016000" y="4191000"/>
            <a:ext cx="4699000" cy="1016000"/>
          </a:xfrm>
          <a:prstGeom prst="roundRect">
            <a:avLst>
              <a:gd name="adj" fmla="val 10000"/>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206500" y="4381500"/>
            <a:ext cx="50800" cy="635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460500" y="43180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374151"/>
                </a:solidFill>
                <a:latin typeface="Noto Sans SC"/>
                <a:ea typeface="Noto Sans SC"/>
                <a:cs typeface="Noto Sans SC"/>
                <a:sym typeface="Noto Sans SC"/>
              </a:rPr>
              <a:t>🛠️ 核心实现</a:t>
            </a:r>
            <a:endParaRPr lang="en-US" sz="1100"/>
          </a:p>
        </p:txBody>
      </p:sp>
      <p:sp>
        <p:nvSpPr>
          <p:cNvPr name="AutoShape 17" id="17"/>
          <p:cNvSpPr/>
          <p:nvPr/>
        </p:nvSpPr>
        <p:spPr>
          <a:xfrm rot="0" flipH="false" flipV="false">
            <a:off x="1460500" y="46736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4B5563"/>
                </a:solidFill>
                <a:latin typeface="Noto Sans SC"/>
                <a:ea typeface="Noto Sans SC"/>
                <a:cs typeface="Noto Sans SC"/>
                <a:sym typeface="Noto Sans SC"/>
              </a:rPr>
              <a:t>生成64位Long型ID，结构包含时间戳(41位)、机器ID(10位)及自增序列号(12位)。</a:t>
            </a:r>
            <a:endParaRPr lang="en-US" sz="1100"/>
          </a:p>
        </p:txBody>
      </p:sp>
      <p:sp>
        <p:nvSpPr>
          <p:cNvPr name="AutoShape 18" id="18"/>
          <p:cNvSpPr/>
          <p:nvPr/>
        </p:nvSpPr>
        <p:spPr>
          <a:xfrm rot="0" flipH="false" flipV="false">
            <a:off x="1016000" y="5334000"/>
            <a:ext cx="4699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206500" y="5486400"/>
            <a:ext cx="50800" cy="508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460500" y="5461000"/>
            <a:ext cx="4064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100">
                <a:solidFill>
                  <a:srgbClr val="4B5563"/>
                </a:solidFill>
                <a:latin typeface="Noto Sans SC"/>
                <a:ea typeface="Noto Sans SC"/>
                <a:cs typeface="Noto Sans SC"/>
                <a:sym typeface="Noto Sans SC"/>
              </a:rPr>
              <a:t>优势：</a:t>
            </a:r>
            <a:r>
              <a:rPr lang="en-US" b="false" i="false" strike="noStrike" u="none" sz="1100">
                <a:solidFill>
                  <a:srgbClr val="4B5563"/>
                </a:solidFill>
                <a:latin typeface="Noto Sans SC"/>
                <a:ea typeface="Noto Sans SC"/>
                <a:cs typeface="Noto Sans SC"/>
                <a:sym typeface="Noto Sans SC"/>
              </a:rPr>
              <a:t>生成的ID具备趋势递增特性，利于数据库索引优化；纯内存计算，性能极高。</a:t>
            </a:r>
            <a:endParaRPr lang="en-US" sz="1100"/>
          </a:p>
        </p:txBody>
      </p:sp>
      <p:sp>
        <p:nvSpPr>
          <p:cNvPr name="AutoShape 21" id="21"/>
          <p:cNvSpPr/>
          <p:nvPr/>
        </p:nvSpPr>
        <p:spPr>
          <a:xfrm rot="0" flipH="false" flipV="false">
            <a:off x="6223000" y="1524000"/>
            <a:ext cx="5207000" cy="4699000"/>
          </a:xfrm>
          <a:prstGeom prst="roundRect">
            <a:avLst>
              <a:gd name="adj" fmla="val 4324"/>
            </a:avLst>
          </a:prstGeom>
          <a:solidFill>
            <a:srgbClr val="FFFFFF">
              <a:alpha val="95000"/>
            </a:srgbClr>
          </a:solidFill>
          <a:ln w="25400" cmpd="sng" cap="flat">
            <a:noFill/>
            <a:prstDash val="solid"/>
            <a:round/>
          </a:ln>
          <a:effectLst>
            <a:outerShdw dir="27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477000" y="1778000"/>
            <a:ext cx="711200" cy="711200"/>
          </a:xfrm>
          <a:prstGeom prst="roundRect">
            <a:avLst>
              <a:gd name="adj" fmla="val 50000"/>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29400" y="1930400"/>
            <a:ext cx="406400" cy="406400"/>
          </a:xfrm>
          <a:prstGeom prst="rect">
            <a:avLst/>
          </a:prstGeom>
        </p:spPr>
      </p:pic>
      <p:sp>
        <p:nvSpPr>
          <p:cNvPr name="AutoShape 24" id="24"/>
          <p:cNvSpPr/>
          <p:nvPr/>
        </p:nvSpPr>
        <p:spPr>
          <a:xfrm rot="0" flipH="false" flipV="false">
            <a:off x="7366000" y="1828800"/>
            <a:ext cx="3556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0B981"/>
                </a:solidFill>
                <a:latin typeface="Noto Sans SC"/>
                <a:ea typeface="Noto Sans SC"/>
                <a:cs typeface="Noto Sans SC"/>
                <a:sym typeface="Noto Sans SC"/>
              </a:rPr>
              <a:t>智能配额管理</a:t>
            </a:r>
            <a:endParaRPr lang="en-US" sz="1100"/>
          </a:p>
        </p:txBody>
      </p:sp>
      <p:sp>
        <p:nvSpPr>
          <p:cNvPr name="AutoShape 25" id="25"/>
          <p:cNvSpPr/>
          <p:nvPr/>
        </p:nvSpPr>
        <p:spPr>
          <a:xfrm rot="0" flipH="false" flipV="false">
            <a:off x="7366000" y="23368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基于Redis原子操作的高效限流策略</a:t>
            </a:r>
            <a:endParaRPr lang="en-US" sz="1100"/>
          </a:p>
        </p:txBody>
      </p:sp>
      <p:cxnSp>
        <p:nvCxnSpPr>
          <p:cNvPr name="Connector 26" id="26"/>
          <p:cNvCxnSpPr/>
          <p:nvPr/>
        </p:nvCxnSpPr>
        <p:spPr>
          <a:xfrm rot="-9291" flipH="false" flipV="false">
            <a:off x="6477009" y="2851150"/>
            <a:ext cx="4699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7" id="27"/>
          <p:cNvSpPr/>
          <p:nvPr/>
        </p:nvSpPr>
        <p:spPr>
          <a:xfrm rot="0" flipH="false" flipV="false">
            <a:off x="6477000" y="3048000"/>
            <a:ext cx="4699000" cy="1016000"/>
          </a:xfrm>
          <a:prstGeom prst="roundRect">
            <a:avLst>
              <a:gd name="adj" fmla="val 10000"/>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6667500" y="3238500"/>
            <a:ext cx="50800" cy="635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921500" y="31750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374151"/>
                </a:solidFill>
                <a:latin typeface="Noto Sans SC"/>
                <a:ea typeface="Noto Sans SC"/>
                <a:cs typeface="Noto Sans SC"/>
                <a:sym typeface="Noto Sans SC"/>
              </a:rPr>
              <a:t>💡 应用背景</a:t>
            </a:r>
            <a:endParaRPr lang="en-US" sz="1100"/>
          </a:p>
        </p:txBody>
      </p:sp>
      <p:sp>
        <p:nvSpPr>
          <p:cNvPr name="AutoShape 30" id="30"/>
          <p:cNvSpPr/>
          <p:nvPr/>
        </p:nvSpPr>
        <p:spPr>
          <a:xfrm rot="0" flipH="false" flipV="false">
            <a:off x="6921500" y="35306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4B5563"/>
                </a:solidFill>
                <a:latin typeface="Noto Sans SC"/>
                <a:ea typeface="Noto Sans SC"/>
                <a:cs typeface="Noto Sans SC"/>
                <a:sym typeface="Noto Sans SC"/>
              </a:rPr>
              <a:t>针对SaaS产品免费版用户，需精确控制每日API调用次数，防止资源滥用。</a:t>
            </a:r>
            <a:endParaRPr lang="en-US" sz="1100"/>
          </a:p>
        </p:txBody>
      </p:sp>
      <p:sp>
        <p:nvSpPr>
          <p:cNvPr name="AutoShape 31" id="31"/>
          <p:cNvSpPr/>
          <p:nvPr/>
        </p:nvSpPr>
        <p:spPr>
          <a:xfrm rot="0" flipH="false" flipV="false">
            <a:off x="6477000" y="4191000"/>
            <a:ext cx="4699000" cy="1016000"/>
          </a:xfrm>
          <a:prstGeom prst="roundRect">
            <a:avLst>
              <a:gd name="adj" fmla="val 10000"/>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6667500" y="4381500"/>
            <a:ext cx="50800" cy="635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921500" y="43180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374151"/>
                </a:solidFill>
                <a:latin typeface="Noto Sans SC"/>
                <a:ea typeface="Noto Sans SC"/>
                <a:cs typeface="Noto Sans SC"/>
                <a:sym typeface="Noto Sans SC"/>
              </a:rPr>
              <a:t>🛠️ 核心实现</a:t>
            </a:r>
            <a:endParaRPr lang="en-US" sz="1100"/>
          </a:p>
        </p:txBody>
      </p:sp>
      <p:sp>
        <p:nvSpPr>
          <p:cNvPr name="AutoShape 34" id="34"/>
          <p:cNvSpPr/>
          <p:nvPr/>
        </p:nvSpPr>
        <p:spPr>
          <a:xfrm rot="0" flipH="false" flipV="false">
            <a:off x="6921500" y="46736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4B5563"/>
                </a:solidFill>
                <a:latin typeface="Noto Sans SC"/>
                <a:ea typeface="Noto Sans SC"/>
                <a:cs typeface="Noto Sans SC"/>
                <a:sym typeface="Noto Sans SC"/>
              </a:rPr>
              <a:t>利用Redis的原子自增(INCR)命令记录调用次数，并结合Key的过期特性实现每日自动重置。</a:t>
            </a:r>
            <a:endParaRPr lang="en-US" sz="1100"/>
          </a:p>
        </p:txBody>
      </p:sp>
      <p:sp>
        <p:nvSpPr>
          <p:cNvPr name="AutoShape 35" id="35"/>
          <p:cNvSpPr/>
          <p:nvPr/>
        </p:nvSpPr>
        <p:spPr>
          <a:xfrm rot="0" flipH="false" flipV="false">
            <a:off x="6477000" y="5334000"/>
            <a:ext cx="4699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6667500" y="5486400"/>
            <a:ext cx="50800" cy="508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6921500" y="5461000"/>
            <a:ext cx="4064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100">
                <a:solidFill>
                  <a:srgbClr val="4B5563"/>
                </a:solidFill>
                <a:latin typeface="Noto Sans SC"/>
                <a:ea typeface="Noto Sans SC"/>
                <a:cs typeface="Noto Sans SC"/>
                <a:sym typeface="Noto Sans SC"/>
              </a:rPr>
              <a:t>优势：</a:t>
            </a:r>
            <a:r>
              <a:rPr lang="en-US" b="false" i="false" strike="noStrike" u="none" sz="1100">
                <a:solidFill>
                  <a:srgbClr val="4B5563"/>
                </a:solidFill>
                <a:latin typeface="Noto Sans SC"/>
                <a:ea typeface="Noto Sans SC"/>
                <a:cs typeface="Noto Sans SC"/>
                <a:sym typeface="Noto Sans SC"/>
              </a:rPr>
              <a:t>Redis单线程保证计数原子性；纯内存操作性能优异；无需编写复杂的定时重置任务。</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06 部署方案</a:t>
            </a:r>
            <a:endParaRPr lang="en-US" sz="1100"/>
          </a:p>
        </p:txBody>
      </p:sp>
      <p:sp>
        <p:nvSpPr>
          <p:cNvPr name="AutoShape 4" id="4"/>
          <p:cNvSpPr/>
          <p:nvPr/>
        </p:nvSpPr>
        <p:spPr>
          <a:xfrm rot="0" flipH="false" flipV="false">
            <a:off x="762000" y="1397000"/>
            <a:ext cx="3810000" cy="4826000"/>
          </a:xfrm>
          <a:prstGeom prst="roundRect">
            <a:avLst>
              <a:gd name="adj" fmla="val 5333"/>
            </a:avLst>
          </a:prstGeom>
          <a:solidFill>
            <a:srgbClr val="FFFFFF">
              <a:alpha val="100000"/>
            </a:srgbClr>
          </a:solidFill>
          <a:ln w="25400" cmpd="sng" cap="flat">
            <a:noFill/>
            <a:prstDash val="solid"/>
            <a:round/>
          </a:ln>
          <a:effectLst>
            <a:outerShdw dir="27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5499" r="5499" t="0" b="0"/>
          <a:stretch>
            <a:fillRect/>
          </a:stretch>
        </p:blipFill>
        <p:spPr>
          <a:xfrm rot="0" flipH="false" flipV="false">
            <a:off x="1016000" y="1905000"/>
            <a:ext cx="3302000" cy="3302000"/>
          </a:xfrm>
          <a:prstGeom prst="rect">
            <a:avLst/>
          </a:prstGeom>
          <a:noFill/>
          <a:ln w="25400" cmpd="sng" cap="flat">
            <a:noFill/>
            <a:prstDash val="solid"/>
            <a:round/>
          </a:ln>
        </p:spPr>
      </p:pic>
      <p:sp>
        <p:nvSpPr>
          <p:cNvPr name="AutoShape 6" id="6"/>
          <p:cNvSpPr/>
          <p:nvPr/>
        </p:nvSpPr>
        <p:spPr>
          <a:xfrm rot="0" flipH="false" flipV="false">
            <a:off x="1016000" y="5334000"/>
            <a:ext cx="330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10B981"/>
                </a:solidFill>
                <a:latin typeface="Noto Sans SC"/>
                <a:ea typeface="Noto Sans SC"/>
                <a:cs typeface="Noto Sans SC"/>
                <a:sym typeface="Noto Sans SC"/>
              </a:rPr>
              <a:t>Docker 容器化技术</a:t>
            </a:r>
            <a:endParaRPr lang="en-US" sz="1100"/>
          </a:p>
        </p:txBody>
      </p:sp>
      <p:sp>
        <p:nvSpPr>
          <p:cNvPr name="AutoShape 7" id="7"/>
          <p:cNvSpPr/>
          <p:nvPr/>
        </p:nvSpPr>
        <p:spPr>
          <a:xfrm rot="0" flipH="false" flipV="false">
            <a:off x="4826000" y="1397000"/>
            <a:ext cx="3302000" cy="2286000"/>
          </a:xfrm>
          <a:prstGeom prst="roundRect">
            <a:avLst>
              <a:gd name="adj" fmla="val 6666"/>
            </a:avLst>
          </a:prstGeom>
          <a:solidFill>
            <a:srgbClr val="FFFFFF">
              <a:alpha val="100000"/>
            </a:srgbClr>
          </a:solidFill>
          <a:ln w="25400" cmpd="sng" cap="flat">
            <a:noFill/>
            <a:prstDash val="solid"/>
            <a:round/>
          </a:ln>
          <a:effectLst>
            <a:outerShdw dir="27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5080000" y="1651000"/>
            <a:ext cx="508000" cy="508000"/>
          </a:xfrm>
          <a:prstGeom prst="ellipse">
            <a:avLst/>
          </a:prstGeom>
          <a:solidFill>
            <a:srgbClr val="D1FAE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181600" y="1752600"/>
            <a:ext cx="304800" cy="304800"/>
          </a:xfrm>
          <a:prstGeom prst="rect">
            <a:avLst/>
          </a:prstGeom>
        </p:spPr>
      </p:pic>
      <p:sp>
        <p:nvSpPr>
          <p:cNvPr name="AutoShape 10" id="10"/>
          <p:cNvSpPr/>
          <p:nvPr/>
        </p:nvSpPr>
        <p:spPr>
          <a:xfrm rot="0" flipH="false" flipV="false">
            <a:off x="5842000" y="1651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核心设计理念</a:t>
            </a:r>
            <a:endParaRPr lang="en-US" sz="1100"/>
          </a:p>
        </p:txBody>
      </p:sp>
      <p:sp>
        <p:nvSpPr>
          <p:cNvPr name="AutoShape 11" id="11"/>
          <p:cNvSpPr/>
          <p:nvPr/>
        </p:nvSpPr>
        <p:spPr>
          <a:xfrm rot="0" flipH="false" flipV="false">
            <a:off x="5080000" y="2413000"/>
            <a:ext cx="279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采用 Docker 进行应用的容器化打包，核心目标是实现</a:t>
            </a:r>
            <a:r>
              <a:rPr lang="en-US" b="true" i="false" strike="noStrike" u="none" sz="1200">
                <a:solidFill>
                  <a:srgbClr val="4B5563"/>
                </a:solidFill>
                <a:latin typeface="Noto Sans SC"/>
                <a:ea typeface="Noto Sans SC"/>
                <a:cs typeface="Noto Sans SC"/>
                <a:sym typeface="Noto Sans SC"/>
              </a:rPr>
              <a:t>“一次构建，到处运行”</a:t>
            </a:r>
            <a:r>
              <a:rPr lang="en-US" b="false" i="false" strike="noStrike" u="none" sz="1200">
                <a:solidFill>
                  <a:srgbClr val="4B5563"/>
                </a:solidFill>
                <a:latin typeface="Noto Sans SC"/>
                <a:ea typeface="Noto Sans SC"/>
                <a:cs typeface="Noto Sans SC"/>
                <a:sym typeface="Noto Sans SC"/>
              </a:rPr>
              <a:t>，消除环境差异带来的部署难题。</a:t>
            </a:r>
            <a:endParaRPr lang="en-US" sz="1100"/>
          </a:p>
        </p:txBody>
      </p:sp>
      <p:sp>
        <p:nvSpPr>
          <p:cNvPr name="AutoShape 12" id="12"/>
          <p:cNvSpPr/>
          <p:nvPr/>
        </p:nvSpPr>
        <p:spPr>
          <a:xfrm rot="0" flipH="false" flipV="false">
            <a:off x="8382000" y="1397000"/>
            <a:ext cx="3302000" cy="2286000"/>
          </a:xfrm>
          <a:prstGeom prst="roundRect">
            <a:avLst>
              <a:gd name="adj" fmla="val 6666"/>
            </a:avLst>
          </a:prstGeom>
          <a:solidFill>
            <a:srgbClr val="FFFFFF">
              <a:alpha val="100000"/>
            </a:srgbClr>
          </a:solidFill>
          <a:ln w="25400" cmpd="sng" cap="flat">
            <a:noFill/>
            <a:prstDash val="solid"/>
            <a:round/>
          </a:ln>
          <a:effectLst>
            <a:outerShdw dir="27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636000" y="1651000"/>
            <a:ext cx="508000" cy="508000"/>
          </a:xfrm>
          <a:prstGeom prst="ellipse">
            <a:avLst/>
          </a:prstGeom>
          <a:solidFill>
            <a:srgbClr val="D1FAE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737600" y="1752600"/>
            <a:ext cx="304800" cy="304800"/>
          </a:xfrm>
          <a:prstGeom prst="rect">
            <a:avLst/>
          </a:prstGeom>
        </p:spPr>
      </p:pic>
      <p:sp>
        <p:nvSpPr>
          <p:cNvPr name="AutoShape 15" id="15"/>
          <p:cNvSpPr/>
          <p:nvPr/>
        </p:nvSpPr>
        <p:spPr>
          <a:xfrm rot="0" flipH="false" flipV="false">
            <a:off x="9398000" y="1651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核心技术优势</a:t>
            </a:r>
            <a:endParaRPr lang="en-US" sz="1100"/>
          </a:p>
        </p:txBody>
      </p:sp>
      <p:sp>
        <p:nvSpPr>
          <p:cNvPr name="AutoShape 16" id="16"/>
          <p:cNvSpPr/>
          <p:nvPr/>
        </p:nvSpPr>
        <p:spPr>
          <a:xfrm rot="0" flipH="false" flipV="false">
            <a:off x="8636000" y="2413000"/>
            <a:ext cx="279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4B5563"/>
                </a:solidFill>
                <a:latin typeface="Noto Sans SC"/>
                <a:ea typeface="Noto Sans SC"/>
                <a:cs typeface="Noto Sans SC"/>
                <a:sym typeface="Noto Sans SC"/>
              </a:rPr>
              <a:t>•</a:t>
            </a:r>
            <a:r>
              <a:rPr lang="en-US" b="true" i="false" strike="noStrike" u="none" sz="1100">
                <a:solidFill>
                  <a:srgbClr val="4B5563"/>
                </a:solidFill>
                <a:latin typeface="Noto Sans SC"/>
                <a:ea typeface="Noto Sans SC"/>
                <a:cs typeface="Noto Sans SC"/>
                <a:sym typeface="Noto Sans SC"/>
              </a:rPr>
              <a:t>环境一致：</a:t>
            </a:r>
            <a:r>
              <a:rPr lang="en-US" b="false" i="false" strike="noStrike" u="none" sz="1100">
                <a:solidFill>
                  <a:srgbClr val="4B5563"/>
                </a:solidFill>
                <a:latin typeface="Noto Sans SC"/>
                <a:ea typeface="Noto Sans SC"/>
                <a:cs typeface="Noto Sans SC"/>
                <a:sym typeface="Noto Sans SC"/>
              </a:rPr>
              <a:t>开发/测试/生产环境统一</a:t>
            </a:r>
            <a:r>
              <a:rPr lang="en-US" b="false" i="false" strike="noStrike" u="none" sz="1100">
                <a:solidFill>
                  <a:srgbClr val="4B5563"/>
                </a:solidFill>
                <a:latin typeface="Noto Sans SC"/>
                <a:ea typeface="Noto Sans SC"/>
                <a:cs typeface="Noto Sans SC"/>
                <a:sym typeface="Noto Sans SC"/>
              </a:rPr>
              <a:t/>
            </a:r>
            <a:br>
              <a:rPr lang="en-US" b="false" i="false" strike="noStrike" u="none" sz="1100">
                <a:solidFill>
                  <a:srgbClr val="4B5563"/>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a:t>
            </a:r>
            <a:r>
              <a:rPr lang="en-US" b="true" i="false" strike="noStrike" u="none" sz="1100">
                <a:solidFill>
                  <a:srgbClr val="4B5563"/>
                </a:solidFill>
                <a:latin typeface="Noto Sans SC"/>
                <a:ea typeface="Noto Sans SC"/>
                <a:cs typeface="Noto Sans SC"/>
                <a:sym typeface="Noto Sans SC"/>
              </a:rPr>
              <a:t>简化部署：</a:t>
            </a:r>
            <a:r>
              <a:rPr lang="en-US" b="false" i="false" strike="noStrike" u="none" sz="1100">
                <a:solidFill>
                  <a:srgbClr val="4B5563"/>
                </a:solidFill>
                <a:latin typeface="Noto Sans SC"/>
                <a:ea typeface="Noto Sans SC"/>
                <a:cs typeface="Noto Sans SC"/>
                <a:sym typeface="Noto Sans SC"/>
              </a:rPr>
              <a:t>镜像打包，一键分发运行</a:t>
            </a:r>
            <a:r>
              <a:rPr lang="en-US" b="false" i="false" strike="noStrike" u="none" sz="1100">
                <a:solidFill>
                  <a:srgbClr val="4B5563"/>
                </a:solidFill>
                <a:latin typeface="Noto Sans SC"/>
                <a:ea typeface="Noto Sans SC"/>
                <a:cs typeface="Noto Sans SC"/>
                <a:sym typeface="Noto Sans SC"/>
              </a:rPr>
              <a:t/>
            </a:r>
            <a:br>
              <a:rPr lang="en-US" b="false" i="false" strike="noStrike" u="none" sz="1100">
                <a:solidFill>
                  <a:srgbClr val="4B5563"/>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a:t>
            </a:r>
            <a:r>
              <a:rPr lang="en-US" b="true" i="false" strike="noStrike" u="none" sz="1100">
                <a:solidFill>
                  <a:srgbClr val="4B5563"/>
                </a:solidFill>
                <a:latin typeface="Noto Sans SC"/>
                <a:ea typeface="Noto Sans SC"/>
                <a:cs typeface="Noto Sans SC"/>
                <a:sym typeface="Noto Sans SC"/>
              </a:rPr>
              <a:t>资源隔离：</a:t>
            </a:r>
            <a:r>
              <a:rPr lang="en-US" b="false" i="false" strike="noStrike" u="none" sz="1100">
                <a:solidFill>
                  <a:srgbClr val="4B5563"/>
                </a:solidFill>
                <a:latin typeface="Noto Sans SC"/>
                <a:ea typeface="Noto Sans SC"/>
                <a:cs typeface="Noto Sans SC"/>
                <a:sym typeface="Noto Sans SC"/>
              </a:rPr>
              <a:t>容器独立运行，高安全稳定</a:t>
            </a:r>
            <a:endParaRPr lang="en-US" sz="1100"/>
          </a:p>
        </p:txBody>
      </p:sp>
      <p:sp>
        <p:nvSpPr>
          <p:cNvPr name="AutoShape 17" id="17"/>
          <p:cNvSpPr/>
          <p:nvPr/>
        </p:nvSpPr>
        <p:spPr>
          <a:xfrm rot="0" flipH="false" flipV="false">
            <a:off x="4826000" y="3937000"/>
            <a:ext cx="3302000" cy="2286000"/>
          </a:xfrm>
          <a:prstGeom prst="roundRect">
            <a:avLst>
              <a:gd name="adj" fmla="val 6666"/>
            </a:avLst>
          </a:prstGeom>
          <a:solidFill>
            <a:srgbClr val="FFFFFF">
              <a:alpha val="100000"/>
            </a:srgbClr>
          </a:solidFill>
          <a:ln w="25400" cmpd="sng" cap="flat">
            <a:noFill/>
            <a:prstDash val="solid"/>
            <a:round/>
          </a:ln>
          <a:effectLst>
            <a:outerShdw dir="27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080000" y="4191000"/>
            <a:ext cx="508000" cy="508000"/>
          </a:xfrm>
          <a:prstGeom prst="ellipse">
            <a:avLst/>
          </a:prstGeom>
          <a:solidFill>
            <a:srgbClr val="D1FAE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181600" y="4292600"/>
            <a:ext cx="304800" cy="304800"/>
          </a:xfrm>
          <a:prstGeom prst="rect">
            <a:avLst/>
          </a:prstGeom>
        </p:spPr>
      </p:pic>
      <p:sp>
        <p:nvSpPr>
          <p:cNvPr name="AutoShape 20" id="20"/>
          <p:cNvSpPr/>
          <p:nvPr/>
        </p:nvSpPr>
        <p:spPr>
          <a:xfrm rot="0" flipH="false" flipV="false">
            <a:off x="5842000" y="4191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基础环境依赖</a:t>
            </a:r>
            <a:endParaRPr lang="en-US" sz="1100"/>
          </a:p>
        </p:txBody>
      </p:sp>
      <p:sp>
        <p:nvSpPr>
          <p:cNvPr name="AutoShape 21" id="21"/>
          <p:cNvSpPr/>
          <p:nvPr/>
        </p:nvSpPr>
        <p:spPr>
          <a:xfrm rot="0" flipH="false" flipV="false">
            <a:off x="5080000" y="4953000"/>
            <a:ext cx="279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服务器需预装以下核心组件，确保容器正常运行：</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true" i="false" strike="noStrike" u="none" sz="1200">
                <a:solidFill>
                  <a:srgbClr val="4B5563"/>
                </a:solidFill>
                <a:latin typeface="Noto Sans SC"/>
                <a:ea typeface="Noto Sans SC"/>
                <a:cs typeface="Noto Sans SC"/>
                <a:sym typeface="Noto Sans SC"/>
              </a:rPr>
              <a:t>JDK 17 • MySQL • Redis • Docker Engine</a:t>
            </a:r>
            <a:endParaRPr lang="en-US" sz="1100"/>
          </a:p>
        </p:txBody>
      </p:sp>
      <p:sp>
        <p:nvSpPr>
          <p:cNvPr name="AutoShape 22" id="22"/>
          <p:cNvSpPr/>
          <p:nvPr/>
        </p:nvSpPr>
        <p:spPr>
          <a:xfrm rot="0" flipH="false" flipV="false">
            <a:off x="8382000" y="3937000"/>
            <a:ext cx="3302000" cy="2286000"/>
          </a:xfrm>
          <a:prstGeom prst="roundRect">
            <a:avLst>
              <a:gd name="adj" fmla="val 6666"/>
            </a:avLst>
          </a:prstGeom>
          <a:solidFill>
            <a:srgbClr val="FFFFFF">
              <a:alpha val="100000"/>
            </a:srgbClr>
          </a:solidFill>
          <a:ln w="25400" cmpd="sng" cap="flat">
            <a:noFill/>
            <a:prstDash val="solid"/>
            <a:round/>
          </a:ln>
          <a:effectLst>
            <a:outerShdw dir="27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636000" y="4191000"/>
            <a:ext cx="508000" cy="508000"/>
          </a:xfrm>
          <a:prstGeom prst="ellipse">
            <a:avLst/>
          </a:prstGeom>
          <a:solidFill>
            <a:srgbClr val="D1FAE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737600" y="4292600"/>
            <a:ext cx="304800" cy="304800"/>
          </a:xfrm>
          <a:prstGeom prst="rect">
            <a:avLst/>
          </a:prstGeom>
        </p:spPr>
      </p:pic>
      <p:sp>
        <p:nvSpPr>
          <p:cNvPr name="AutoShape 25" id="25"/>
          <p:cNvSpPr/>
          <p:nvPr/>
        </p:nvSpPr>
        <p:spPr>
          <a:xfrm rot="0" flipH="false" flipV="false">
            <a:off x="9398000" y="4191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标准部署流程</a:t>
            </a:r>
            <a:endParaRPr lang="en-US" sz="1100"/>
          </a:p>
        </p:txBody>
      </p:sp>
      <p:sp>
        <p:nvSpPr>
          <p:cNvPr name="AutoShape 26" id="26"/>
          <p:cNvSpPr/>
          <p:nvPr/>
        </p:nvSpPr>
        <p:spPr>
          <a:xfrm rot="0" flipH="false" flipV="false">
            <a:off x="8636000" y="4953000"/>
            <a:ext cx="279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遵循标准化流水线，实现自动化部署闭环：</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true" i="false" strike="noStrike" u="none" sz="1200">
                <a:solidFill>
                  <a:srgbClr val="4B5563"/>
                </a:solidFill>
                <a:latin typeface="Noto Sans SC"/>
                <a:ea typeface="Noto Sans SC"/>
                <a:cs typeface="Noto Sans SC"/>
                <a:sym typeface="Noto Sans SC"/>
              </a:rPr>
              <a:t>代码构建 → 镜像构建 → 容器启动 → 数据初始化</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07 项目成果</a:t>
            </a:r>
            <a:endParaRPr lang="en-US" sz="1100"/>
          </a:p>
        </p:txBody>
      </p:sp>
      <p:sp>
        <p:nvSpPr>
          <p:cNvPr name="AutoShape 4" id="4"/>
          <p:cNvSpPr/>
          <p:nvPr/>
        </p:nvSpPr>
        <p:spPr>
          <a:xfrm rot="0" flipH="false" flipV="false">
            <a:off x="762000" y="1524000"/>
            <a:ext cx="3302000" cy="4445000"/>
          </a:xfrm>
          <a:prstGeom prst="roundRect">
            <a:avLst>
              <a:gd name="adj" fmla="val 4615"/>
            </a:avLst>
          </a:prstGeom>
          <a:solidFill>
            <a:srgbClr val="FFFFFF">
              <a:alpha val="95000"/>
            </a:srgbClr>
          </a:solidFill>
          <a:ln w="25400" cmpd="sng" cap="flat">
            <a:noFill/>
            <a:prstDash val="solid"/>
            <a:round/>
          </a:ln>
          <a:effectLst>
            <a:outerShdw dir="54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43000" y="1905000"/>
            <a:ext cx="1016000" cy="1016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397000" y="2159000"/>
            <a:ext cx="508000" cy="508000"/>
          </a:xfrm>
          <a:prstGeom prst="rect">
            <a:avLst/>
          </a:prstGeom>
        </p:spPr>
      </p:pic>
      <p:sp>
        <p:nvSpPr>
          <p:cNvPr name="AutoShape 7" id="7"/>
          <p:cNvSpPr/>
          <p:nvPr/>
        </p:nvSpPr>
        <p:spPr>
          <a:xfrm rot="0" flipH="false" flipV="false">
            <a:off x="1143000" y="3175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完整的后端服务</a:t>
            </a:r>
            <a:endParaRPr lang="en-US" sz="1100"/>
          </a:p>
        </p:txBody>
      </p:sp>
      <p:sp>
        <p:nvSpPr>
          <p:cNvPr name="AutoShape 8" id="8"/>
          <p:cNvSpPr/>
          <p:nvPr/>
        </p:nvSpPr>
        <p:spPr>
          <a:xfrm rot="0" flipH="false" flipV="false">
            <a:off x="1143000" y="3810000"/>
            <a:ext cx="2540000" cy="1270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成功实现了用户认证、会员管理、使用控制、对话历史、订单处理等所有规划的核心业务功能，构建了完整的商业闭环。</a:t>
            </a:r>
            <a:endParaRPr lang="en-US" sz="1100"/>
          </a:p>
        </p:txBody>
      </p:sp>
      <p:sp>
        <p:nvSpPr>
          <p:cNvPr name="AutoShape 9" id="9"/>
          <p:cNvSpPr/>
          <p:nvPr/>
        </p:nvSpPr>
        <p:spPr>
          <a:xfrm rot="0" flipH="false" flipV="false">
            <a:off x="4445000" y="1524000"/>
            <a:ext cx="3302000" cy="4445000"/>
          </a:xfrm>
          <a:prstGeom prst="roundRect">
            <a:avLst>
              <a:gd name="adj" fmla="val 4615"/>
            </a:avLst>
          </a:prstGeom>
          <a:solidFill>
            <a:srgbClr val="FFFFFF">
              <a:alpha val="95000"/>
            </a:srgbClr>
          </a:solidFill>
          <a:ln w="25400" cmpd="sng" cap="flat">
            <a:noFill/>
            <a:prstDash val="solid"/>
            <a:round/>
          </a:ln>
          <a:effectLst>
            <a:outerShdw dir="54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826000" y="1905000"/>
            <a:ext cx="1016000" cy="1016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080000" y="2159000"/>
            <a:ext cx="508000" cy="508000"/>
          </a:xfrm>
          <a:prstGeom prst="rect">
            <a:avLst/>
          </a:prstGeom>
        </p:spPr>
      </p:pic>
      <p:sp>
        <p:nvSpPr>
          <p:cNvPr name="AutoShape 12" id="12"/>
          <p:cNvSpPr/>
          <p:nvPr/>
        </p:nvSpPr>
        <p:spPr>
          <a:xfrm rot="0" flipH="false" flipV="false">
            <a:off x="4826000" y="3175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高可扩展的架构</a:t>
            </a:r>
            <a:endParaRPr lang="en-US" sz="1100"/>
          </a:p>
        </p:txBody>
      </p:sp>
      <p:sp>
        <p:nvSpPr>
          <p:cNvPr name="AutoShape 13" id="13"/>
          <p:cNvSpPr/>
          <p:nvPr/>
        </p:nvSpPr>
        <p:spPr>
          <a:xfrm rot="0" flipH="false" flipV="false">
            <a:off x="4826000" y="3810000"/>
            <a:ext cx="2540000" cy="1270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基于模块化设计和先进技术选型，使得新增功能可以在独立模块中开发，为未来的微服务拆分打下坚实基础。</a:t>
            </a:r>
            <a:endParaRPr lang="en-US" sz="1100"/>
          </a:p>
        </p:txBody>
      </p:sp>
      <p:sp>
        <p:nvSpPr>
          <p:cNvPr name="AutoShape 14" id="14"/>
          <p:cNvSpPr/>
          <p:nvPr/>
        </p:nvSpPr>
        <p:spPr>
          <a:xfrm rot="0" flipH="false" flipV="false">
            <a:off x="8128000" y="1524000"/>
            <a:ext cx="3302000" cy="4445000"/>
          </a:xfrm>
          <a:prstGeom prst="roundRect">
            <a:avLst>
              <a:gd name="adj" fmla="val 4615"/>
            </a:avLst>
          </a:prstGeom>
          <a:solidFill>
            <a:srgbClr val="FFFFFF">
              <a:alpha val="95000"/>
            </a:srgbClr>
          </a:solidFill>
          <a:ln w="25400" cmpd="sng" cap="flat">
            <a:noFill/>
            <a:prstDash val="solid"/>
            <a:round/>
          </a:ln>
          <a:effectLst>
            <a:outerShdw dir="54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509000" y="1905000"/>
            <a:ext cx="1016000" cy="1016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763000" y="2159000"/>
            <a:ext cx="508000" cy="508000"/>
          </a:xfrm>
          <a:prstGeom prst="rect">
            <a:avLst/>
          </a:prstGeom>
        </p:spPr>
      </p:pic>
      <p:sp>
        <p:nvSpPr>
          <p:cNvPr name="AutoShape 17" id="17"/>
          <p:cNvSpPr/>
          <p:nvPr/>
        </p:nvSpPr>
        <p:spPr>
          <a:xfrm rot="0" flipH="false" flipV="false">
            <a:off x="8509000" y="3175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良好的代码质量</a:t>
            </a:r>
            <a:endParaRPr lang="en-US" sz="1100"/>
          </a:p>
        </p:txBody>
      </p:sp>
      <p:sp>
        <p:nvSpPr>
          <p:cNvPr name="AutoShape 18" id="18"/>
          <p:cNvSpPr/>
          <p:nvPr/>
        </p:nvSpPr>
        <p:spPr>
          <a:xfrm rot="0" flipH="false" flipV="false">
            <a:off x="8509000" y="3810000"/>
            <a:ext cx="2540000" cy="1270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严格遵循编码规范，核心逻辑覆盖单元测试，并实施了严格的代码审查流程，有效保证了代码的健壮性和可维护性。</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08</a:t>
            </a:r>
            <a:r>
              <a:rPr lang="en-US" b="true" i="false" strike="noStrike" u="none" sz="3200">
                <a:solidFill>
                  <a:srgbClr val="10B981"/>
                </a:solidFill>
                <a:latin typeface="Noto Sans SC"/>
                <a:ea typeface="Noto Sans SC"/>
                <a:cs typeface="Noto Sans SC"/>
                <a:sym typeface="Noto Sans SC"/>
              </a:rPr>
              <a:t>未来规划</a:t>
            </a:r>
            <a:endParaRPr lang="en-US" sz="1100"/>
          </a:p>
        </p:txBody>
      </p:sp>
      <p:sp>
        <p:nvSpPr>
          <p:cNvPr name="AutoShape 4" id="4"/>
          <p:cNvSpPr/>
          <p:nvPr/>
        </p:nvSpPr>
        <p:spPr>
          <a:xfrm rot="0" flipH="false" flipV="false">
            <a:off x="762000" y="1397000"/>
            <a:ext cx="5207000" cy="2286000"/>
          </a:xfrm>
          <a:prstGeom prst="roundRect">
            <a:avLst>
              <a:gd name="adj" fmla="val 6666"/>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841500"/>
            <a:ext cx="1016000" cy="1016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270000" y="2095500"/>
            <a:ext cx="508000" cy="508000"/>
          </a:xfrm>
          <a:prstGeom prst="rect">
            <a:avLst/>
          </a:prstGeom>
        </p:spPr>
      </p:pic>
      <p:sp>
        <p:nvSpPr>
          <p:cNvPr name="AutoShape 7" id="7"/>
          <p:cNvSpPr/>
          <p:nvPr/>
        </p:nvSpPr>
        <p:spPr>
          <a:xfrm rot="0" flipH="false" flipV="false">
            <a:off x="2286000" y="1714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0B981"/>
                </a:solidFill>
                <a:latin typeface="Noto Sans SC"/>
                <a:ea typeface="Noto Sans SC"/>
                <a:cs typeface="Noto Sans SC"/>
                <a:sym typeface="Noto Sans SC"/>
              </a:rPr>
              <a:t>AI 模型优化与扩展</a:t>
            </a:r>
            <a:endParaRPr lang="en-US" sz="1100"/>
          </a:p>
        </p:txBody>
      </p:sp>
      <p:sp>
        <p:nvSpPr>
          <p:cNvPr name="AutoShape 8" id="8"/>
          <p:cNvSpPr/>
          <p:nvPr/>
        </p:nvSpPr>
        <p:spPr>
          <a:xfrm rot="0" flipH="false" flipV="false">
            <a:off x="2286000" y="2222500"/>
            <a:ext cx="3429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 集成 GPT-4、Claude 3 等先进大语言模型</a:t>
            </a:r>
            <a:r>
              <a:rPr lang="en-US" b="false" i="false" strike="noStrike" u="none" sz="1200">
                <a:solidFill>
                  <a:srgbClr val="4B5563"/>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4B5563"/>
                </a:solidFill>
                <a:latin typeface="Noto Sans SC"/>
                <a:ea typeface="Noto Sans SC"/>
                <a:cs typeface="Noto Sans SC"/>
                <a:sym typeface="Noto Sans SC"/>
              </a:rPr>
              <a:t>• 针对垂直行业场景进行模型微调 (Fine-tuning)</a:t>
            </a:r>
            <a:r>
              <a:rPr lang="en-US" b="false" i="false" strike="noStrike" u="none" sz="1200">
                <a:solidFill>
                  <a:srgbClr val="4B5563"/>
                </a:solidFill>
                <a:latin typeface="Noto Sans SC"/>
                <a:ea typeface="Noto Sans SC"/>
                <a:cs typeface="Noto Sans SC"/>
                <a:sym typeface="Noto Sans SC"/>
              </a:rPr>
              <a:t/>
            </a:r>
          </a:p>
          <a:p>
            <a:pPr algn="l" indent="0">
              <a:lnSpc>
                <a:spcPct val="116666"/>
              </a:lnSpc>
            </a:pPr>
            <a:r>
              <a:rPr lang="en-US" b="false" i="false" strike="noStrike" u="none" sz="1200">
                <a:solidFill>
                  <a:srgbClr val="4B5563"/>
                </a:solidFill>
                <a:latin typeface="Noto Sans SC"/>
                <a:ea typeface="Noto Sans SC"/>
                <a:cs typeface="Noto Sans SC"/>
                <a:sym typeface="Noto Sans SC"/>
              </a:rPr>
              <a:t>• 深度探索并支持文本、图像等多模态输入输出</a:t>
            </a:r>
          </a:p>
        </p:txBody>
      </p:sp>
      <p:sp>
        <p:nvSpPr>
          <p:cNvPr name="AutoShape 9" id="9"/>
          <p:cNvSpPr/>
          <p:nvPr/>
        </p:nvSpPr>
        <p:spPr>
          <a:xfrm rot="0" flipH="false" flipV="false">
            <a:off x="6223000" y="1397000"/>
            <a:ext cx="5207000" cy="2286000"/>
          </a:xfrm>
          <a:prstGeom prst="roundRect">
            <a:avLst>
              <a:gd name="adj" fmla="val 6666"/>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77000" y="1841500"/>
            <a:ext cx="1016000" cy="1016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731000" y="2095500"/>
            <a:ext cx="508000" cy="508000"/>
          </a:xfrm>
          <a:prstGeom prst="rect">
            <a:avLst/>
          </a:prstGeom>
        </p:spPr>
      </p:pic>
      <p:sp>
        <p:nvSpPr>
          <p:cNvPr name="AutoShape 12" id="12"/>
          <p:cNvSpPr/>
          <p:nvPr/>
        </p:nvSpPr>
        <p:spPr>
          <a:xfrm rot="0" flipH="false" flipV="false">
            <a:off x="7747000" y="1714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0B981"/>
                </a:solidFill>
                <a:latin typeface="Noto Sans SC"/>
                <a:ea typeface="Noto Sans SC"/>
                <a:cs typeface="Noto Sans SC"/>
                <a:sym typeface="Noto Sans SC"/>
              </a:rPr>
              <a:t>前端功能完善</a:t>
            </a:r>
            <a:endParaRPr lang="en-US" sz="1100"/>
          </a:p>
        </p:txBody>
      </p:sp>
      <p:sp>
        <p:nvSpPr>
          <p:cNvPr name="AutoShape 13" id="13"/>
          <p:cNvSpPr/>
          <p:nvPr/>
        </p:nvSpPr>
        <p:spPr>
          <a:xfrm rot="0" flipH="false" flipV="false">
            <a:off x="7747000" y="2222500"/>
            <a:ext cx="3429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 集成功能更强大、体验更流畅的富文本编辑器</a:t>
            </a:r>
            <a:r>
              <a:rPr lang="en-US" b="false" i="false" strike="noStrike" u="none" sz="1200">
                <a:solidFill>
                  <a:srgbClr val="4B5563"/>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4B5563"/>
                </a:solidFill>
                <a:latin typeface="Noto Sans SC"/>
                <a:ea typeface="Noto Sans SC"/>
                <a:cs typeface="Noto Sans SC"/>
                <a:sym typeface="Noto Sans SC"/>
              </a:rPr>
              <a:t>• 开发基于用户历史行为的智能个性化推荐引擎</a:t>
            </a:r>
            <a:r>
              <a:rPr lang="en-US" b="false" i="false" strike="noStrike" u="none" sz="1200">
                <a:solidFill>
                  <a:srgbClr val="4B5563"/>
                </a:solidFill>
                <a:latin typeface="Noto Sans SC"/>
                <a:ea typeface="Noto Sans SC"/>
                <a:cs typeface="Noto Sans SC"/>
                <a:sym typeface="Noto Sans SC"/>
              </a:rPr>
              <a:t/>
            </a:r>
          </a:p>
          <a:p>
            <a:pPr algn="l" indent="0">
              <a:lnSpc>
                <a:spcPct val="116666"/>
              </a:lnSpc>
            </a:pPr>
            <a:r>
              <a:rPr lang="en-US" b="false" i="false" strike="noStrike" u="none" sz="1200">
                <a:solidFill>
                  <a:srgbClr val="4B5563"/>
                </a:solidFill>
                <a:latin typeface="Noto Sans SC"/>
                <a:ea typeface="Noto Sans SC"/>
                <a:cs typeface="Noto Sans SC"/>
                <a:sym typeface="Noto Sans SC"/>
              </a:rPr>
              <a:t>• 优化响应速度，确保在低配置设备上的流畅性</a:t>
            </a:r>
          </a:p>
        </p:txBody>
      </p:sp>
      <p:sp>
        <p:nvSpPr>
          <p:cNvPr name="AutoShape 14" id="14"/>
          <p:cNvSpPr/>
          <p:nvPr/>
        </p:nvSpPr>
        <p:spPr>
          <a:xfrm rot="0" flipH="false" flipV="false">
            <a:off x="762000" y="3937000"/>
            <a:ext cx="5207000" cy="2286000"/>
          </a:xfrm>
          <a:prstGeom prst="roundRect">
            <a:avLst>
              <a:gd name="adj" fmla="val 6666"/>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16000" y="4381500"/>
            <a:ext cx="1016000" cy="1016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270000" y="4635500"/>
            <a:ext cx="508000" cy="508000"/>
          </a:xfrm>
          <a:prstGeom prst="rect">
            <a:avLst/>
          </a:prstGeom>
        </p:spPr>
      </p:pic>
      <p:sp>
        <p:nvSpPr>
          <p:cNvPr name="AutoShape 17" id="17"/>
          <p:cNvSpPr/>
          <p:nvPr/>
        </p:nvSpPr>
        <p:spPr>
          <a:xfrm rot="0" flipH="false" flipV="false">
            <a:off x="2286000" y="4254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0B981"/>
                </a:solidFill>
                <a:latin typeface="Noto Sans SC"/>
                <a:ea typeface="Noto Sans SC"/>
                <a:cs typeface="Noto Sans SC"/>
                <a:sym typeface="Noto Sans SC"/>
              </a:rPr>
              <a:t>数据分析与运营</a:t>
            </a:r>
            <a:endParaRPr lang="en-US" sz="1100"/>
          </a:p>
        </p:txBody>
      </p:sp>
      <p:sp>
        <p:nvSpPr>
          <p:cNvPr name="AutoShape 18" id="18"/>
          <p:cNvSpPr/>
          <p:nvPr/>
        </p:nvSpPr>
        <p:spPr>
          <a:xfrm rot="0" flipH="false" flipV="false">
            <a:off x="2286000" y="4762500"/>
            <a:ext cx="3429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 添加全链路用户行为分析模块，可视化数据报表</a:t>
            </a:r>
            <a:r>
              <a:rPr lang="en-US" b="false" i="false" strike="noStrike" u="none" sz="1200">
                <a:solidFill>
                  <a:srgbClr val="4B5563"/>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4B5563"/>
                </a:solidFill>
                <a:latin typeface="Noto Sans SC"/>
                <a:ea typeface="Noto Sans SC"/>
                <a:cs typeface="Noto Sans SC"/>
                <a:sym typeface="Noto Sans SC"/>
              </a:rPr>
              <a:t>• 开发独立的运营管理后台，支持内容审核与配置</a:t>
            </a:r>
            <a:r>
              <a:rPr lang="en-US" b="false" i="false" strike="noStrike" u="none" sz="1200">
                <a:solidFill>
                  <a:srgbClr val="4B5563"/>
                </a:solidFill>
                <a:latin typeface="Noto Sans SC"/>
                <a:ea typeface="Noto Sans SC"/>
                <a:cs typeface="Noto Sans SC"/>
                <a:sym typeface="Noto Sans SC"/>
              </a:rPr>
              <a:t/>
            </a:r>
          </a:p>
          <a:p>
            <a:pPr algn="l" indent="0">
              <a:lnSpc>
                <a:spcPct val="116666"/>
              </a:lnSpc>
            </a:pPr>
            <a:r>
              <a:rPr lang="en-US" b="false" i="false" strike="noStrike" u="none" sz="1200">
                <a:solidFill>
                  <a:srgbClr val="4B5563"/>
                </a:solidFill>
                <a:latin typeface="Noto Sans SC"/>
                <a:ea typeface="Noto Sans SC"/>
                <a:cs typeface="Noto Sans SC"/>
                <a:sym typeface="Noto Sans SC"/>
              </a:rPr>
              <a:t>• 提供API接口，支持与第三方BI系统无缝对接</a:t>
            </a:r>
          </a:p>
        </p:txBody>
      </p:sp>
      <p:sp>
        <p:nvSpPr>
          <p:cNvPr name="AutoShape 19" id="19"/>
          <p:cNvSpPr/>
          <p:nvPr/>
        </p:nvSpPr>
        <p:spPr>
          <a:xfrm rot="0" flipH="false" flipV="false">
            <a:off x="6223000" y="3937000"/>
            <a:ext cx="5207000" cy="2286000"/>
          </a:xfrm>
          <a:prstGeom prst="roundRect">
            <a:avLst>
              <a:gd name="adj" fmla="val 6666"/>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477000" y="4381500"/>
            <a:ext cx="1016000" cy="10160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731000" y="4635500"/>
            <a:ext cx="508000" cy="508000"/>
          </a:xfrm>
          <a:prstGeom prst="rect">
            <a:avLst/>
          </a:prstGeom>
        </p:spPr>
      </p:pic>
      <p:sp>
        <p:nvSpPr>
          <p:cNvPr name="AutoShape 22" id="22"/>
          <p:cNvSpPr/>
          <p:nvPr/>
        </p:nvSpPr>
        <p:spPr>
          <a:xfrm rot="0" flipH="false" flipV="false">
            <a:off x="7747000" y="4254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0B981"/>
                </a:solidFill>
                <a:latin typeface="Noto Sans SC"/>
                <a:ea typeface="Noto Sans SC"/>
                <a:cs typeface="Noto Sans SC"/>
                <a:sym typeface="Noto Sans SC"/>
              </a:rPr>
              <a:t>多语言与国际化支持</a:t>
            </a:r>
            <a:endParaRPr lang="en-US" sz="1100"/>
          </a:p>
        </p:txBody>
      </p:sp>
      <p:sp>
        <p:nvSpPr>
          <p:cNvPr name="AutoShape 23" id="23"/>
          <p:cNvSpPr/>
          <p:nvPr/>
        </p:nvSpPr>
        <p:spPr>
          <a:xfrm rot="0" flipH="false" flipV="false">
            <a:off x="7747000" y="4762500"/>
            <a:ext cx="3429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 支持一键生成多语言文案，覆盖主流国际语言</a:t>
            </a:r>
            <a:r>
              <a:rPr lang="en-US" b="false" i="false" strike="noStrike" u="none" sz="1200">
                <a:solidFill>
                  <a:srgbClr val="4B5563"/>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4B5563"/>
                </a:solidFill>
                <a:latin typeface="Noto Sans SC"/>
                <a:ea typeface="Noto Sans SC"/>
                <a:cs typeface="Noto Sans SC"/>
                <a:sym typeface="Noto Sans SC"/>
              </a:rPr>
              <a:t>• 实现系统界面的完全国际化 (i18n)，自适应语言</a:t>
            </a:r>
            <a:r>
              <a:rPr lang="en-US" b="false" i="false" strike="noStrike" u="none" sz="1200">
                <a:solidFill>
                  <a:srgbClr val="4B5563"/>
                </a:solidFill>
                <a:latin typeface="Noto Sans SC"/>
                <a:ea typeface="Noto Sans SC"/>
                <a:cs typeface="Noto Sans SC"/>
                <a:sym typeface="Noto Sans SC"/>
              </a:rPr>
              <a:t/>
            </a:r>
          </a:p>
          <a:p>
            <a:pPr algn="l" indent="0">
              <a:lnSpc>
                <a:spcPct val="116666"/>
              </a:lnSpc>
            </a:pPr>
            <a:r>
              <a:rPr lang="en-US" b="false" i="false" strike="noStrike" u="none" sz="1200">
                <a:solidFill>
                  <a:srgbClr val="4B5563"/>
                </a:solidFill>
                <a:latin typeface="Noto Sans SC"/>
                <a:ea typeface="Noto Sans SC"/>
                <a:cs typeface="Noto Sans SC"/>
                <a:sym typeface="Noto Sans SC"/>
              </a:rPr>
              <a:t>• 适配不同国家的时区、日期格式及文化习惯</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09 总结与展望</a:t>
            </a:r>
            <a:endParaRPr lang="en-US" sz="1100"/>
          </a:p>
        </p:txBody>
      </p:sp>
      <p:sp>
        <p:nvSpPr>
          <p:cNvPr name="AutoShape 4" id="4"/>
          <p:cNvSpPr/>
          <p:nvPr/>
        </p:nvSpPr>
        <p:spPr>
          <a:xfrm rot="0" flipH="false" flipV="false">
            <a:off x="762000" y="1524000"/>
            <a:ext cx="3302000" cy="4572000"/>
          </a:xfrm>
          <a:prstGeom prst="roundRect">
            <a:avLst>
              <a:gd name="adj" fmla="val 6153"/>
            </a:avLst>
          </a:prstGeom>
          <a:solidFill>
            <a:srgbClr val="FFFFFF">
              <a:alpha val="95000"/>
            </a:srgbClr>
          </a:solidFill>
          <a:ln w="25400" cmpd="sng" cap="flat">
            <a:noFill/>
            <a:prstDash val="solid"/>
            <a:round/>
          </a:ln>
          <a:effectLst>
            <a:outerShdw dir="2700000" dist="508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905000" y="1905000"/>
            <a:ext cx="1016000" cy="1016000"/>
          </a:xfrm>
          <a:prstGeom prst="ellipse">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159000" y="2159000"/>
            <a:ext cx="508000" cy="508000"/>
          </a:xfrm>
          <a:prstGeom prst="rect">
            <a:avLst/>
          </a:prstGeom>
        </p:spPr>
      </p:pic>
      <p:sp>
        <p:nvSpPr>
          <p:cNvPr name="AutoShape 7" id="7"/>
          <p:cNvSpPr/>
          <p:nvPr/>
        </p:nvSpPr>
        <p:spPr>
          <a:xfrm rot="0" flipH="false" flipV="false">
            <a:off x="1016000" y="3175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项目价值回顾</a:t>
            </a:r>
            <a:endParaRPr lang="en-US" sz="1100"/>
          </a:p>
        </p:txBody>
      </p:sp>
      <p:sp>
        <p:nvSpPr>
          <p:cNvPr name="AutoShape 8" id="8"/>
          <p:cNvSpPr/>
          <p:nvPr/>
        </p:nvSpPr>
        <p:spPr>
          <a:xfrm rot="0" flipH="false" flipV="false">
            <a:off x="1016000" y="3810000"/>
            <a:ext cx="2794000" cy="1651000"/>
          </a:xfrm>
          <a:prstGeom prst="roundRect">
            <a:avLst>
              <a:gd name="adj" fmla="val 6153"/>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206500" y="4000500"/>
            <a:ext cx="2413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基于Spring Boot构建AI文案生成服务，为创作者提供高效智能工具，有效解决行业痛点，充分验证了AIGC技术在内容生产领域的实际应用潜力。</a:t>
            </a:r>
            <a:endParaRPr lang="en-US" sz="1100"/>
          </a:p>
        </p:txBody>
      </p:sp>
      <p:sp>
        <p:nvSpPr>
          <p:cNvPr name="AutoShape 10" id="10"/>
          <p:cNvSpPr/>
          <p:nvPr/>
        </p:nvSpPr>
        <p:spPr>
          <a:xfrm rot="0" flipH="false" flipV="false">
            <a:off x="4445000" y="1524000"/>
            <a:ext cx="3302000" cy="4572000"/>
          </a:xfrm>
          <a:prstGeom prst="roundRect">
            <a:avLst>
              <a:gd name="adj" fmla="val 6153"/>
            </a:avLst>
          </a:prstGeom>
          <a:solidFill>
            <a:srgbClr val="FFFFFF">
              <a:alpha val="95000"/>
            </a:srgbClr>
          </a:solidFill>
          <a:ln w="25400" cmpd="sng" cap="flat">
            <a:noFill/>
            <a:prstDash val="solid"/>
            <a:round/>
          </a:ln>
          <a:effectLst>
            <a:outerShdw dir="2700000" dist="508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588000" y="1905000"/>
            <a:ext cx="1016000" cy="1016000"/>
          </a:xfrm>
          <a:prstGeom prst="ellipse">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842000" y="2159000"/>
            <a:ext cx="508000" cy="508000"/>
          </a:xfrm>
          <a:prstGeom prst="rect">
            <a:avLst/>
          </a:prstGeom>
        </p:spPr>
      </p:pic>
      <p:sp>
        <p:nvSpPr>
          <p:cNvPr name="AutoShape 13" id="13"/>
          <p:cNvSpPr/>
          <p:nvPr/>
        </p:nvSpPr>
        <p:spPr>
          <a:xfrm rot="0" flipH="false" flipV="false">
            <a:off x="4699000" y="3175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技术收获与成长</a:t>
            </a:r>
            <a:endParaRPr lang="en-US" sz="1100"/>
          </a:p>
        </p:txBody>
      </p:sp>
      <p:sp>
        <p:nvSpPr>
          <p:cNvPr name="AutoShape 14" id="14"/>
          <p:cNvSpPr/>
          <p:nvPr/>
        </p:nvSpPr>
        <p:spPr>
          <a:xfrm rot="0" flipH="false" flipV="false">
            <a:off x="4699000" y="3810000"/>
            <a:ext cx="2794000" cy="1651000"/>
          </a:xfrm>
          <a:prstGeom prst="roundRect">
            <a:avLst>
              <a:gd name="adj" fmla="val 6153"/>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889500" y="4000500"/>
            <a:ext cx="2413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深入实践Spring Boot企业级开发标准，熟练掌握前后端分离架构、分布式ID生成、Redis缓存应用及Docker容器化部署，显著提升了团队的整体技术工程化实力。</a:t>
            </a:r>
            <a:endParaRPr lang="en-US" sz="1100"/>
          </a:p>
        </p:txBody>
      </p:sp>
      <p:sp>
        <p:nvSpPr>
          <p:cNvPr name="AutoShape 16" id="16"/>
          <p:cNvSpPr/>
          <p:nvPr/>
        </p:nvSpPr>
        <p:spPr>
          <a:xfrm rot="0" flipH="false" flipV="false">
            <a:off x="8128000" y="1524000"/>
            <a:ext cx="3302000" cy="4572000"/>
          </a:xfrm>
          <a:prstGeom prst="roundRect">
            <a:avLst>
              <a:gd name="adj" fmla="val 6153"/>
            </a:avLst>
          </a:prstGeom>
          <a:solidFill>
            <a:srgbClr val="FFFFFF">
              <a:alpha val="95000"/>
            </a:srgbClr>
          </a:solidFill>
          <a:ln w="25400" cmpd="sng" cap="flat">
            <a:noFill/>
            <a:prstDash val="solid"/>
            <a:round/>
          </a:ln>
          <a:effectLst>
            <a:outerShdw dir="2700000" dist="508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271000" y="1905000"/>
            <a:ext cx="1016000" cy="1016000"/>
          </a:xfrm>
          <a:prstGeom prst="ellipse">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0" y="2159000"/>
            <a:ext cx="508000" cy="508000"/>
          </a:xfrm>
          <a:prstGeom prst="rect">
            <a:avLst/>
          </a:prstGeom>
        </p:spPr>
      </p:pic>
      <p:sp>
        <p:nvSpPr>
          <p:cNvPr name="AutoShape 19" id="19"/>
          <p:cNvSpPr/>
          <p:nvPr/>
        </p:nvSpPr>
        <p:spPr>
          <a:xfrm rot="0" flipH="false" flipV="false">
            <a:off x="8382000" y="3175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未来展望</a:t>
            </a:r>
            <a:endParaRPr lang="en-US" sz="1100"/>
          </a:p>
        </p:txBody>
      </p:sp>
      <p:sp>
        <p:nvSpPr>
          <p:cNvPr name="AutoShape 20" id="20"/>
          <p:cNvSpPr/>
          <p:nvPr/>
        </p:nvSpPr>
        <p:spPr>
          <a:xfrm rot="0" flipH="false" flipV="false">
            <a:off x="8382000" y="3810000"/>
            <a:ext cx="2794000" cy="1651000"/>
          </a:xfrm>
          <a:prstGeom prst="roundRect">
            <a:avLst>
              <a:gd name="adj" fmla="val 6153"/>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572500" y="4000500"/>
            <a:ext cx="2413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持续深耕智能化算法与用户体验优化，紧跟前沿AI技术浪潮。致力于将AI-ToolBox打造成为行业领先的智能内容创作平台，持续为用户创造更大的商业与社会价值。</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成员分工及介绍</a:t>
            </a:r>
            <a:endParaRPr lang="en-US" sz="1100"/>
          </a:p>
        </p:txBody>
      </p:sp>
      <p:sp>
        <p:nvSpPr>
          <p:cNvPr name="AutoShape 4" id="4"/>
          <p:cNvSpPr/>
          <p:nvPr/>
        </p:nvSpPr>
        <p:spPr>
          <a:xfrm rot="0" flipH="false" flipV="false">
            <a:off x="762000" y="1397000"/>
            <a:ext cx="3302000" cy="2286000"/>
          </a:xfrm>
          <a:prstGeom prst="roundRect">
            <a:avLst>
              <a:gd name="adj" fmla="val 6666"/>
            </a:avLst>
          </a:prstGeom>
          <a:solidFill>
            <a:srgbClr val="FFFFFF">
              <a:alpha val="92000"/>
            </a:srgbClr>
          </a:solidFill>
          <a:ln w="25400" cmpd="sng" cap="flat">
            <a:noFill/>
            <a:prstDash val="solid"/>
            <a:round/>
          </a:ln>
          <a:effectLst>
            <a:outerShdw dir="2700000" dist="635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651000"/>
            <a:ext cx="711200" cy="711200"/>
          </a:xfrm>
          <a:prstGeom prst="ellipse">
            <a:avLst/>
          </a:prstGeom>
          <a:solidFill>
            <a:srgbClr val="10B981">
              <a:alpha val="12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168400" y="1803400"/>
            <a:ext cx="406400" cy="406400"/>
          </a:xfrm>
          <a:prstGeom prst="rect">
            <a:avLst/>
          </a:prstGeom>
        </p:spPr>
      </p:pic>
      <p:sp>
        <p:nvSpPr>
          <p:cNvPr name="AutoShape 7" id="7"/>
          <p:cNvSpPr/>
          <p:nvPr/>
        </p:nvSpPr>
        <p:spPr>
          <a:xfrm rot="0" flipH="false" flipV="false">
            <a:off x="1905000" y="1714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核心架构师</a:t>
            </a:r>
            <a:endParaRPr lang="en-US" sz="1100"/>
          </a:p>
        </p:txBody>
      </p:sp>
      <p:sp>
        <p:nvSpPr>
          <p:cNvPr name="AutoShape 8" id="8"/>
          <p:cNvSpPr/>
          <p:nvPr/>
        </p:nvSpPr>
        <p:spPr>
          <a:xfrm rot="0" flipH="false" flipV="false">
            <a:off x="1905000" y="2286000"/>
            <a:ext cx="19050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负责项目整体技术架构设计，主导后端核心业务逻辑代码的编写与维护。</a:t>
            </a:r>
            <a:endParaRPr lang="en-US" sz="1100"/>
          </a:p>
        </p:txBody>
      </p:sp>
      <p:sp>
        <p:nvSpPr>
          <p:cNvPr name="AutoShape 9" id="9"/>
          <p:cNvSpPr/>
          <p:nvPr/>
        </p:nvSpPr>
        <p:spPr>
          <a:xfrm rot="0" flipH="false" flipV="false">
            <a:off x="762000" y="3937000"/>
            <a:ext cx="3302000" cy="2286000"/>
          </a:xfrm>
          <a:prstGeom prst="roundRect">
            <a:avLst>
              <a:gd name="adj" fmla="val 6666"/>
            </a:avLst>
          </a:prstGeom>
          <a:solidFill>
            <a:srgbClr val="FFFFFF">
              <a:alpha val="92000"/>
            </a:srgbClr>
          </a:solidFill>
          <a:ln w="25400" cmpd="sng" cap="flat">
            <a:noFill/>
            <a:prstDash val="solid"/>
            <a:round/>
          </a:ln>
          <a:effectLst>
            <a:outerShdw dir="2700000" dist="635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16000" y="4191000"/>
            <a:ext cx="711200" cy="711200"/>
          </a:xfrm>
          <a:prstGeom prst="ellipse">
            <a:avLst/>
          </a:prstGeom>
          <a:solidFill>
            <a:srgbClr val="10B981">
              <a:alpha val="12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168400" y="4343400"/>
            <a:ext cx="406400" cy="406400"/>
          </a:xfrm>
          <a:prstGeom prst="rect">
            <a:avLst/>
          </a:prstGeom>
        </p:spPr>
      </p:pic>
      <p:sp>
        <p:nvSpPr>
          <p:cNvPr name="AutoShape 12" id="12"/>
          <p:cNvSpPr/>
          <p:nvPr/>
        </p:nvSpPr>
        <p:spPr>
          <a:xfrm rot="0" flipH="false" flipV="false">
            <a:off x="1905000" y="4254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数据库工程师</a:t>
            </a:r>
            <a:endParaRPr lang="en-US" sz="1100"/>
          </a:p>
        </p:txBody>
      </p:sp>
      <p:sp>
        <p:nvSpPr>
          <p:cNvPr name="AutoShape 13" id="13"/>
          <p:cNvSpPr/>
          <p:nvPr/>
        </p:nvSpPr>
        <p:spPr>
          <a:xfrm rot="0" flipH="false" flipV="false">
            <a:off x="1905000" y="4826000"/>
            <a:ext cx="19050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负责MySQL数据库的搭建、表结构设计，以及后期的数据查询优化与维护工作。</a:t>
            </a:r>
            <a:endParaRPr lang="en-US" sz="1100"/>
          </a:p>
        </p:txBody>
      </p:sp>
      <p:sp>
        <p:nvSpPr>
          <p:cNvPr name="AutoShape 14" id="14"/>
          <p:cNvSpPr/>
          <p:nvPr/>
        </p:nvSpPr>
        <p:spPr>
          <a:xfrm rot="0" flipH="false" flipV="false">
            <a:off x="4445000" y="1397000"/>
            <a:ext cx="3302000" cy="2286000"/>
          </a:xfrm>
          <a:prstGeom prst="roundRect">
            <a:avLst>
              <a:gd name="adj" fmla="val 6666"/>
            </a:avLst>
          </a:prstGeom>
          <a:solidFill>
            <a:srgbClr val="FFFFFF">
              <a:alpha val="92000"/>
            </a:srgbClr>
          </a:solidFill>
          <a:ln w="25400" cmpd="sng" cap="flat">
            <a:noFill/>
            <a:prstDash val="solid"/>
            <a:round/>
          </a:ln>
          <a:effectLst>
            <a:outerShdw dir="2700000" dist="635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699000" y="1651000"/>
            <a:ext cx="711200" cy="711200"/>
          </a:xfrm>
          <a:prstGeom prst="ellipse">
            <a:avLst/>
          </a:prstGeom>
          <a:solidFill>
            <a:srgbClr val="10B981">
              <a:alpha val="12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4851400" y="1803400"/>
            <a:ext cx="406400" cy="406400"/>
          </a:xfrm>
          <a:prstGeom prst="rect">
            <a:avLst/>
          </a:prstGeom>
        </p:spPr>
      </p:pic>
      <p:sp>
        <p:nvSpPr>
          <p:cNvPr name="AutoShape 17" id="17"/>
          <p:cNvSpPr/>
          <p:nvPr/>
        </p:nvSpPr>
        <p:spPr>
          <a:xfrm rot="0" flipH="false" flipV="false">
            <a:off x="5588000" y="1714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项目协调员</a:t>
            </a:r>
            <a:endParaRPr lang="en-US" sz="1100"/>
          </a:p>
        </p:txBody>
      </p:sp>
      <p:sp>
        <p:nvSpPr>
          <p:cNvPr name="AutoShape 18" id="18"/>
          <p:cNvSpPr/>
          <p:nvPr/>
        </p:nvSpPr>
        <p:spPr>
          <a:xfrm rot="0" flipH="false" flipV="false">
            <a:off x="5588000" y="2286000"/>
            <a:ext cx="19050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负责跟进项目整体进度，定期整理项目开发日志，并编写与维护详细的接口文档。</a:t>
            </a:r>
            <a:endParaRPr lang="en-US" sz="1100"/>
          </a:p>
        </p:txBody>
      </p:sp>
      <p:sp>
        <p:nvSpPr>
          <p:cNvPr name="AutoShape 19" id="19"/>
          <p:cNvSpPr/>
          <p:nvPr/>
        </p:nvSpPr>
        <p:spPr>
          <a:xfrm rot="0" flipH="false" flipV="false">
            <a:off x="4445000" y="3937000"/>
            <a:ext cx="3302000" cy="2286000"/>
          </a:xfrm>
          <a:prstGeom prst="roundRect">
            <a:avLst>
              <a:gd name="adj" fmla="val 6666"/>
            </a:avLst>
          </a:prstGeom>
          <a:solidFill>
            <a:srgbClr val="FFFFFF">
              <a:alpha val="92000"/>
            </a:srgbClr>
          </a:solidFill>
          <a:ln w="25400" cmpd="sng" cap="flat">
            <a:noFill/>
            <a:prstDash val="solid"/>
            <a:round/>
          </a:ln>
          <a:effectLst>
            <a:outerShdw dir="2700000" dist="635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4699000" y="4191000"/>
            <a:ext cx="711200" cy="711200"/>
          </a:xfrm>
          <a:prstGeom prst="ellipse">
            <a:avLst/>
          </a:prstGeom>
          <a:solidFill>
            <a:srgbClr val="10B981">
              <a:alpha val="12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4851400" y="4343400"/>
            <a:ext cx="406400" cy="406400"/>
          </a:xfrm>
          <a:prstGeom prst="rect">
            <a:avLst/>
          </a:prstGeom>
        </p:spPr>
      </p:pic>
      <p:sp>
        <p:nvSpPr>
          <p:cNvPr name="AutoShape 22" id="22"/>
          <p:cNvSpPr/>
          <p:nvPr/>
        </p:nvSpPr>
        <p:spPr>
          <a:xfrm rot="0" flipH="false" flipV="false">
            <a:off x="5588000" y="4254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前端配置师</a:t>
            </a:r>
            <a:endParaRPr lang="en-US" sz="1100"/>
          </a:p>
        </p:txBody>
      </p:sp>
      <p:sp>
        <p:nvSpPr>
          <p:cNvPr name="AutoShape 23" id="23"/>
          <p:cNvSpPr/>
          <p:nvPr/>
        </p:nvSpPr>
        <p:spPr>
          <a:xfrm rot="0" flipH="false" flipV="false">
            <a:off x="5588000" y="4826000"/>
            <a:ext cx="19050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专注于前端工程化配置，负责路由规划、状态管理配置及第三方依赖库的集成。</a:t>
            </a:r>
            <a:endParaRPr lang="en-US" sz="1100"/>
          </a:p>
        </p:txBody>
      </p:sp>
      <p:sp>
        <p:nvSpPr>
          <p:cNvPr name="AutoShape 24" id="24"/>
          <p:cNvSpPr/>
          <p:nvPr/>
        </p:nvSpPr>
        <p:spPr>
          <a:xfrm rot="0" flipH="false" flipV="false">
            <a:off x="8128000" y="1397000"/>
            <a:ext cx="3302000" cy="2286000"/>
          </a:xfrm>
          <a:prstGeom prst="roundRect">
            <a:avLst>
              <a:gd name="adj" fmla="val 6666"/>
            </a:avLst>
          </a:prstGeom>
          <a:solidFill>
            <a:srgbClr val="FFFFFF">
              <a:alpha val="92000"/>
            </a:srgbClr>
          </a:solidFill>
          <a:ln w="25400" cmpd="sng" cap="flat">
            <a:noFill/>
            <a:prstDash val="solid"/>
            <a:round/>
          </a:ln>
          <a:effectLst>
            <a:outerShdw dir="2700000" dist="635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382000" y="1651000"/>
            <a:ext cx="711200" cy="711200"/>
          </a:xfrm>
          <a:prstGeom prst="ellipse">
            <a:avLst/>
          </a:prstGeom>
          <a:solidFill>
            <a:srgbClr val="10B981">
              <a:alpha val="12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8534400" y="1803400"/>
            <a:ext cx="406400" cy="406400"/>
          </a:xfrm>
          <a:prstGeom prst="rect">
            <a:avLst/>
          </a:prstGeom>
        </p:spPr>
      </p:pic>
      <p:sp>
        <p:nvSpPr>
          <p:cNvPr name="AutoShape 27" id="27"/>
          <p:cNvSpPr/>
          <p:nvPr/>
        </p:nvSpPr>
        <p:spPr>
          <a:xfrm rot="0" flipH="false" flipV="false">
            <a:off x="9271000" y="1714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核心界面开发</a:t>
            </a:r>
            <a:endParaRPr lang="en-US" sz="1100"/>
          </a:p>
        </p:txBody>
      </p:sp>
      <p:sp>
        <p:nvSpPr>
          <p:cNvPr name="AutoShape 28" id="28"/>
          <p:cNvSpPr/>
          <p:nvPr/>
        </p:nvSpPr>
        <p:spPr>
          <a:xfrm rot="0" flipH="false" flipV="false">
            <a:off x="9271000" y="2286000"/>
            <a:ext cx="19050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负责系统登录、注册模块的功能实现，并对项目主界面进行交互逻辑开发与视觉美化。</a:t>
            </a:r>
            <a:endParaRPr lang="en-US" sz="1100"/>
          </a:p>
        </p:txBody>
      </p:sp>
      <p:sp>
        <p:nvSpPr>
          <p:cNvPr name="AutoShape 29" id="29"/>
          <p:cNvSpPr/>
          <p:nvPr/>
        </p:nvSpPr>
        <p:spPr>
          <a:xfrm rot="0" flipH="false" flipV="false">
            <a:off x="8128000" y="3937000"/>
            <a:ext cx="3302000" cy="2286000"/>
          </a:xfrm>
          <a:prstGeom prst="roundRect">
            <a:avLst>
              <a:gd name="adj" fmla="val 6666"/>
            </a:avLst>
          </a:prstGeom>
          <a:solidFill>
            <a:srgbClr val="FFFFFF">
              <a:alpha val="92000"/>
            </a:srgbClr>
          </a:solidFill>
          <a:ln w="25400" cmpd="sng" cap="flat">
            <a:noFill/>
            <a:prstDash val="solid"/>
            <a:round/>
          </a:ln>
          <a:effectLst>
            <a:outerShdw dir="2700000" dist="635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382000" y="4191000"/>
            <a:ext cx="711200" cy="711200"/>
          </a:xfrm>
          <a:prstGeom prst="ellipse">
            <a:avLst/>
          </a:prstGeom>
          <a:solidFill>
            <a:srgbClr val="10B981">
              <a:alpha val="12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534400" y="4343400"/>
            <a:ext cx="406400" cy="406400"/>
          </a:xfrm>
          <a:prstGeom prst="rect">
            <a:avLst/>
          </a:prstGeom>
        </p:spPr>
      </p:pic>
      <p:sp>
        <p:nvSpPr>
          <p:cNvPr name="AutoShape 32" id="32"/>
          <p:cNvSpPr/>
          <p:nvPr/>
        </p:nvSpPr>
        <p:spPr>
          <a:xfrm rot="0" flipH="false" flipV="false">
            <a:off x="9271000" y="4254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会员模块开发</a:t>
            </a:r>
            <a:endParaRPr lang="en-US" sz="1100"/>
          </a:p>
        </p:txBody>
      </p:sp>
      <p:sp>
        <p:nvSpPr>
          <p:cNvPr name="AutoShape 33" id="33"/>
          <p:cNvSpPr/>
          <p:nvPr/>
        </p:nvSpPr>
        <p:spPr>
          <a:xfrm rot="0" flipH="false" flipV="false">
            <a:off x="9271000" y="4826000"/>
            <a:ext cx="19050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负责个人信息中心页面及会员购买、权益展示等模块的功能实现与UI界面美化。</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项目展示环节</a:t>
            </a:r>
            <a:endParaRPr lang="en-US" sz="1100"/>
          </a:p>
        </p:txBody>
      </p:sp>
      <p:sp>
        <p:nvSpPr>
          <p:cNvPr name="AutoShape 4" id="4"/>
          <p:cNvSpPr/>
          <p:nvPr/>
        </p:nvSpPr>
        <p:spPr>
          <a:xfrm rot="0" flipH="false" flipV="false">
            <a:off x="1016000" y="3048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1F2937"/>
                </a:solidFill>
                <a:latin typeface="Noto Sans SC"/>
                <a:ea typeface="Noto Sans SC"/>
                <a:cs typeface="Noto Sans SC"/>
                <a:sym typeface="Noto Sans SC"/>
              </a:rPr>
              <a:t>接下来，将为您现场演示项目核心功能。</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24130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1F2937"/>
                </a:solidFill>
                <a:latin typeface="Noto Sans SC"/>
                <a:ea typeface="Noto Sans SC"/>
                <a:cs typeface="Noto Sans SC"/>
                <a:sym typeface="Noto Sans SC"/>
              </a:rPr>
              <a:t>感谢聆听</a:t>
            </a:r>
            <a:endParaRPr lang="en-US" sz="1100"/>
          </a:p>
        </p:txBody>
      </p:sp>
      <p:sp>
        <p:nvSpPr>
          <p:cNvPr name="AutoShape 3" id="3"/>
          <p:cNvSpPr/>
          <p:nvPr/>
        </p:nvSpPr>
        <p:spPr>
          <a:xfrm rot="0" flipH="false" flipV="false">
            <a:off x="0" y="3556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10B981"/>
                </a:solidFill>
                <a:latin typeface="Noto Sans SC"/>
                <a:ea typeface="Noto Sans SC"/>
                <a:cs typeface="Noto Sans SC"/>
                <a:sym typeface="Noto Sans SC"/>
              </a:rPr>
              <a:t>THANKS FOR LISTENING</a:t>
            </a:r>
            <a:endParaRPr lang="en-US" sz="1100"/>
          </a:p>
        </p:txBody>
      </p:sp>
      <p:sp>
        <p:nvSpPr>
          <p:cNvPr name="AutoShape 4" id="4"/>
          <p:cNvSpPr/>
          <p:nvPr/>
        </p:nvSpPr>
        <p:spPr>
          <a:xfrm rot="0" flipH="false" flipV="false">
            <a:off x="0" y="4699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B7280"/>
                </a:solidFill>
                <a:latin typeface="Noto Sans SC"/>
                <a:ea typeface="Noto Sans SC"/>
                <a:cs typeface="Noto Sans SC"/>
                <a:sym typeface="Noto Sans SC"/>
              </a:rPr>
              <a:t>期待与您的交流 · 共同探索更多可能</a:t>
            </a:r>
            <a:endParaRPr lang="en-US" sz="1100"/>
          </a:p>
        </p:txBody>
      </p:sp>
      <p:pic>
        <p:nvPicPr>
          <p:cNvPr name="Picture 5" id="5"/>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